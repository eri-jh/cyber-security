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32"/>
  </p:notesMasterIdLst>
  <p:sldIdLst>
    <p:sldId id="257" r:id="rId5"/>
    <p:sldId id="258" r:id="rId6"/>
    <p:sldId id="259" r:id="rId7"/>
    <p:sldId id="260" r:id="rId8"/>
    <p:sldId id="261" r:id="rId9"/>
    <p:sldId id="262" r:id="rId10"/>
    <p:sldId id="264" r:id="rId11"/>
    <p:sldId id="265" r:id="rId12"/>
    <p:sldId id="266" r:id="rId13"/>
    <p:sldId id="267" r:id="rId14"/>
    <p:sldId id="268" r:id="rId15"/>
    <p:sldId id="276" r:id="rId16"/>
    <p:sldId id="269" r:id="rId17"/>
    <p:sldId id="270" r:id="rId18"/>
    <p:sldId id="271" r:id="rId19"/>
    <p:sldId id="274" r:id="rId20"/>
    <p:sldId id="272" r:id="rId21"/>
    <p:sldId id="273" r:id="rId22"/>
    <p:sldId id="263" r:id="rId23"/>
    <p:sldId id="277" r:id="rId24"/>
    <p:sldId id="275" r:id="rId25"/>
    <p:sldId id="282" r:id="rId26"/>
    <p:sldId id="278" r:id="rId27"/>
    <p:sldId id="279" r:id="rId28"/>
    <p:sldId id="280" r:id="rId29"/>
    <p:sldId id="281" r:id="rId30"/>
    <p:sldId id="28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9F4EB5-B024-F70D-FB69-3A26A395D646}" name="Elizabeth Howard" initials="EH" userId="aba77bc892844b1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98" d="100"/>
          <a:sy n="98" d="100"/>
        </p:scale>
        <p:origin x="96"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21:36.809"/>
    </inkml:context>
    <inkml:brush xml:id="br0">
      <inkml:brushProperty name="width" value="0.05" units="cm"/>
      <inkml:brushProperty name="height" value="0.05" units="cm"/>
      <inkml:brushProperty name="color" value="#AE198D"/>
      <inkml:brushProperty name="inkEffects" value="galaxy"/>
      <inkml:brushProperty name="anchorX" value="-191.45149"/>
      <inkml:brushProperty name="anchorY" value="-670.03015"/>
      <inkml:brushProperty name="scaleFactor" value="0.5"/>
    </inkml:brush>
  </inkml:definitions>
  <inkml:trace contextRef="#ctx0" brushRef="#br0">1828 214 24575,'0'0'0,"-4"0"0,-3-5 0,-3-1 0,-6 1 0,2-5 0,-3 1 0,-3 2 0,-1 1 0,2-3 0,-1 2 0,0 0 0,-3 2 0,0 2 0,-2 1 0,5-3 0,-1-1 0,-1 1 0,0 1 0,-1 1 0,-2 1 0,4-4 0,1 0 0,-1 1 0,4-4 0,-1 0 0,-1 2 0,-2 1 0,-2 3 0,-1 1 0,-2 1 0,0 0 0,4-4 0,1 0 0,-1 0 0,0 1 0,-1 1 0,3-4 0,0 1 0,0 0 0,-2 1 0,-1 2 0,-2 1 0,0 1 0,-2 1 0,1 0 0,-1 0 0,0 0 0,0 1 0,1-1 0,-1 0 0,1 0 0,-1 0 0,1 0 0,-1 0 0,6 5 0,0 1 0,5 5 0,0-1 0,-2-2 0,-2-1 0,3 2 0,4 5 0,-1-2 0,-3 3 0,-2-2 0,3 2 0,-2-2 0,-2-3 0,4 2 0,-2-2 0,3 2 0,0-1 0,2 3 0,-2-3 0,-2-2 0,3 3 0,-3-2 0,3 2 0,-2 4 0,4 4 0,-3-3 0,-2-4 0,2 2 0,-2-3 0,3 2 0,3 2 0,-1 4 0,2 2 0,-2-3 0,-4 1 0,2 1 0,3 1 0,3 2 0,-3-4 0,3 0 0,2 1 0,-4-4 0,2 1 0,1 1 0,2 2 0,1 2 0,3 2 0,0 0 0,1 1 0,0 1 0,0 0 0,1 0 0,-1-1 0,0 1 0,0 0 0,0-1 0,0 1 0,0-1 0,0 1 0,6-6 0,-1 0 0,6 0 0,4-4 0,-1 0 0,-2 2 0,2-3 0,3 1 0,2 2 0,3-3 0,2-4 0,-3 2 0,-6 2 0,1-3 0,1-2 0,3-3 0,1 2 0,3-3 0,-4 5 0,0-2 0,1-2 0,2-2 0,0-2 0,-3 3 0,0-1 0,1 0 0,1 3 0,1-1 0,2-1 0,1-2 0,0-1 0,0-2 0,1-2 0,0 6 0,0-1 0,-1 1 0,1-2 0,-1-1 0,1-1 0,-1-1 0,1-1 0,-1 0 0,1 0 0,-1 0 0,1-1 0,-1 1 0,0 0 0,1 0 0,-1 0 0,1 0 0,-1 0 0,1 0 0,-1 0 0,1 0 0,-1 0 0,-5-5 0,0-6 0,0 0 0,-4-4 0,1 2 0,1 2 0,-3-2 0,1 3 0,-4-3 0,3 2 0,-4-3 0,3 2 0,2 3 0,-2-3 0,1 3 0,3 2 0,-3-4 0,2 2 0,2 2 0,1 2 0,-3-3 0,-4-5 0,1 2 0,1 1 0,3 2 0,-2-2 0,1 2 0,1 1 0,-2-3 0,1 2 0,1 1 0,3 1 0,-4-2 0,1 1 0,1 1 0,-3-4 0,1-4 0,2 2 0,-4-4 0,1 3 0,-3-3 0,-4-2 0,3-3 0,-4-2 0,4 4 0,-3-2 0,-2 0 0,-2-1 0,-2-2 0,-2-1 0,-2-1 0,0 0 0,0 0 0,0-1 0,-1 0 0,1 1 0,0-1 0,-1 0 0,1 1 0,0-1 0,0 1 0,0-1 0,0 1 0,0-1 0,-5 6 0,0 0 0,-1 0 0,-3 5 0,0-2 0,-4 4 0,2-1 0,2-3 0,-3 4 0,-3-3 0,2-2 0,-3 3 0,-3 4 0,4-2 0,-3 3 0,3-2 0,-1 2 0,-2 3 0,-2 2 0,-3 2 0,-1 2 0,-2 2 0,0 0 0,-1 0 0,0 1 0,0-1 0,0 1 0,1-1 0,-1 0 0,1 0 0,-1 0 0,0 0 0,1 0 0,0 0 0,-1 0 0,1 0 0,0 0 0,-1 0 0,1 0 0,-1 0 0,1 0 0,-1 0 0,1 0 0,-1 0 0,1 0 0,-1 0 0,1 0 0,-1 0 0,1 0 0,0 0 0,-1 0 0,1 0 0,-1 0 0,1 0 0,4 5 0,1 1 0,0-1 0,-1-1 0,-1-1 0,4 5 0,-1-1 0,0-1 0,-2-2 0,-2-1 0,5 4 0,-1 0 0,-1 4 0,-1-2 0,4 5 0,-2-2 0,0-3 0,4 3 0,-2-2 0,-1-2 0,3 3 0,-2-3 0,-1-1 0,3 4 0,-1-3 0,-2 0 0,3 2 0,-2 4 0,-1-1 0,-3 3 0,-1-3 0,4 2 0,4 3 0,-1-2 0,5 1 0,-3-3 0,3 2 0,2 2 0,-1-3 0,1 2 0,2 2 0,-3-3 0,1 2 0,2 1 0,2 2 0,-3-3 0,0 2 0,-3-5 0,1 1 0,2 2 0,2 2 0,2 3 0,1 1 0,2 2 0,1 0 0,1 1 0,-1-1 0,6-4 0,-1 0 0,1-1 0,4-4 0,-1 1 0,3-4 0,0 1 0,2 2 0,3-2 0,-2 1 0,2-2 0,3-4 0,-4 2 0,-3 3 0,1-2 0,2-2 0,3-4 0,2-2 0,-2 3 0,1-2 0,1 0 0,1-3 0,-4 5 0,2-1 0,0 0 0,2-3 0,1-1 0,2 4 0,0 0 0,2-2 0,-6 5 0,0-2 0,1 0 0,0-3 0,2 4 0,0-2 0,2-1 0,-1-1 0,2-2 0,-1-1 0,1-2 0,0 1 0,-6 4 0,0 0 0,0 0 0,2-1 0,0 0 0,1-2 0,2-1 0,-1-1 0,2 0 0,-1 0 0,1 0 0,0-1 0,-1 1 0,1 0 0,0 0 0,-1 0 0,1 0 0,-1 0 0,1 0 0,-1 0 0,0 0 0,1 0 0,-1 0 0,-5-5 0,0-1 0,0-5 0,1 1 0,2 2 0,-5-4 0,1 2 0,0 2 0,2 2 0,2 3 0,-5-4 0,1 1 0,1 0 0,1 2 0,1 1 0,2 2 0,1-5 0,0 0 0,0 0 0,1 2 0,0 1 0,-5-4 0,-1 1 0,-5-5 0,0 1 0,2 1 0,2 3 0,2-3 0,2 1 0,1 1 0,-4-3 0,0 2 0,1 1 0,-5-4 0,1 3 0,-4-5 0,2 3 0,-4-4 0,-3-3 0,3 2 0,-3-2 0,-2-3 0,-3-1 0,-1-3 0,-1-1 0,-2-1 0,0 0 0,0-1 0,5 5 0,0 1 0,0-1 0,-1 0 0,0-1 0,3 4 0,5 4 0,-1 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21:15.585"/>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1721 161 24575,'0'0'0,"-4"0"0,-8 0 0,1-5 0,-4 0 0,-3-1 0,-4 2 0,4-5 0,-2 2 0,-1 0 0,-1 2 0,-2 2 0,-1 1 0,4-4 0,0 0 0,0 1 0,-1 1 0,-2 1 0,-1 1 0,0 1 0,-1 1 0,-1 0 0,1 0 0,-1 0 0,0 1 0,1-7 0,-1 1 0,1 0 0,-1 0 0,1 2 0,-1 1 0,1 1 0,4-5 0,1 0 0,0 1 0,0 1 0,-3 1 0,0 1 0,-1 1 0,-1 1 0,-1 0 0,1 0 0,-1 0 0,0 1 0,0-1 0,1 0 0,-1 0 0,1 0 0,-1 0 0,1 0 0,5 5 0,0 1 0,0-1 0,-1-1 0,-2 5 0,0-2 0,-1 0 0,4 3 0,0-1 0,5 4 0,-1-3 0,-1-1 0,3 3 0,4 3 0,-2-2 0,3 3 0,-3-3 0,2 3 0,-3-3 0,3 2 0,-3-3 0,2 2 0,-3-2 0,3 2 0,3 3 0,-3-2 0,3 2 0,-4 2 0,-3-3 0,2 2 0,2 2 0,-1 1 0,2 3 0,3 0 0,2 2 0,-2 0 0,1 1 0,1 0 0,1 0 0,2-1 0,2 1 0,0 0 0,-4-6 0,0 0 0,0 0 0,0 1 0,3 1 0,0 2 0,1 0 0,0 1 0,1 1 0,0-1 0,1 1 0,-1-1 0,0 1 0,0 0 0,0-1 0,0 1 0,0-1 0,0 1 0,6-6 0,-1 0 0,6 0 0,-1 1 0,-2 1 0,4-4 0,-2 1 0,3-5 0,-2 2 0,-2 1 0,3-3 0,-3 2 0,4-4 0,-2 3 0,3-4 0,-3 3 0,4-3 0,-3 2 0,3-2 0,-3 2 0,2-2 0,-2 3 0,3-4 0,2-1 0,3-4 0,-3 3 0,2-2 0,2 5 0,1-2 0,1-2 0,2-2 0,-4 3 0,0-2 0,0 0 0,2-3 0,0-1 0,2-1 0,0-2 0,1 1 0,1 4 0,-1 0 0,1 0 0,0-1 0,-1 0 0,1-2 0,0-1 0,-1-1 0,1 0 0,-1 0 0,1 0 0,-1-1 0,0 1 0,1 0 0,-1 0 0,1 0 0,-1 0 0,1 0 0,-1 0 0,1 0 0,-1 0 0,1 0 0,-1 0 0,0 0 0,1 0 0,-1-5 0,1-1 0,-1 1 0,1 0 0,-6-3 0,0 0 0,-5-4 0,0 2 0,2 1 0,-3-3 0,1 3 0,-2-4 0,1 2 0,-3-3 0,3 3 0,-3-4 0,2 3 0,-2-3 0,2 3 0,3 3 0,-2-3 0,-3-3 0,1 2 0,-2-2 0,-3-4 0,3 3 0,3-1 0,-2-3 0,-1-1 0,1 3 0,-1-2 0,-3 0 0,3 3 0,-2-1 0,-2-1 0,-2-2 0,-2-3 0,4 5 0,-1-1 0,0-1 0,-2-1 0,-1-2 0,-2-1 0,0 0 0,0-1 0,-2-1 0,1 0 0,0 1 0,0-1 0,0 0 0,-1 1 0,1-1 0,0 1 0,-5 4 0,-1 1 0,1 0 0,0-1 0,2-1 0,-4 4 0,0-1 0,-4 5 0,1-2 0,1-1 0,3-2 0,-3 3 0,1-1 0,-4 3 0,2-1 0,-3 3 0,1-2 0,3-2 0,-3 2 0,2-2 0,2-2 0,-2 4 0,-4 2 0,2-1 0,1-2 0,-2 3 0,3-3 0,-3-3 0,-4 4 0,3-3 0,-3 4 0,3-2 0,-2 4 0,3-3 0,-2 3 0,3-3 0,-2 4 0,-3 1 0,2-1 0,-2 2 0,-2 1 0,3-2 0,-2 1 0,-1 2 0,3-3 0,-2 1 0,-2 2 0,-1 2 0,-2 2 0,4-4 0,-2 0 0,0 2 0,-1 1 0,-2 1 0,0 1 0,-2 1 0,0 1 0,-1 0 0,1 0 0,-1 0 0,0 1 0,1-1 0,-1 0 0,1 0 0,-1 0 0,1 0 0,-1 0 0,1 0 0,-1 0 0,1 0 0,-1 0 0,1 0 0,5 5 0,5 6 0,0 0 0,0-1 0,2 3 0,-1-2 0,2 3 0,-2-3 0,-2 4 0,2 2 0,-2-2 0,-2-3 0,3 1 0,-2-2 0,4 3 0,-2-3 0,3 3 0,4 2 0,-3-1 0,3 2 0,-3-4 0,1 3 0,-2-3 0,1 2 0,-2-3 0,2 3 0,2 2 0,-1-3 0,1 3 0,-3-3 0,3 2 0,-4-3 0,2 2 0,-2 2 0,2 3 0,-3-3 0,3 2 0,-3-4 0,3 1 0,3 3 0,-3-4 0,3 2 0,2 2 0,2 2 0,1 2 0,3 2 0,-5-5 0,0 1 0,1 1 0,1 0 0,1 2 0,2 1 0,0 0 0,0 1 0,1 1 0,0-1 0,1 1 0,-1-1 0,0 1 0,0 0 0,0-1 0,0 1 0,6-1 0,-1 1 0,1-1 0,4-5 0,-2 0 0,5-5 0,-2 0 0,-2 2 0,3-3 0,-2 2 0,3-4 0,-2 2 0,-3 3 0,4-3 0,3-4 0,-2 3 0,2 2 0,4 3 0,2 2 0,2-2 0,-3 1 0,1-5 0,0-3 0,1 1 0,2-3 0,1 2 0,0-2 0,-4 4 0,0-3 0,1-2 0,-5 3 0,1-3 0,1-2 0,-3 4 0,1-2 0,2-2 0,2-2 0,2-2 0,-4 4 0,1 5 0,1-1 0,1-2 0,2-1 0,1-3 0,1-3 0,-5 5 0,0-1 0,0-1 0,1-1 0,-3 4 0,0-1 0,1-1 0,1-1 0,-3 4 0,1-2 0,1-1 0,-3-1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21:19.631"/>
    </inkml:context>
    <inkml:brush xml:id="br0">
      <inkml:brushProperty name="width" value="0.05" units="cm"/>
      <inkml:brushProperty name="height" value="0.05" units="cm"/>
      <inkml:brushProperty name="color" value="#AE198D"/>
      <inkml:brushProperty name="inkEffects" value="galaxy"/>
      <inkml:brushProperty name="anchorX" value="1957.61963"/>
      <inkml:brushProperty name="anchorY" value="-339.65628"/>
      <inkml:brushProperty name="scaleFactor" value="0.5"/>
    </inkml:brush>
  </inkml:definitions>
  <inkml:trace contextRef="#ctx0" brushRef="#br0">875 293 24575,'0'0'0,"-4"0"0,-8 0 0,-4 0 0,-4 0 0,-4 0 0,-2 0 0,-1 0 0,-1 0 0,1 0 0,0 0 0,-1 0 0,2 0 0,-1 0 0,0 0 0,1 0 0,-1 0 0,1 0 0,5 5 0,0 1 0,0 0 0,-1-2 0,4 5 0,-1-2 0,-1-1 0,4 4 0,-2-1 0,4 4 0,-1-3 0,-3-1 0,3 3 0,-2-3 0,-2-1 0,-2-3 0,3 4 0,4 3 0,-1 0 0,4 3 0,-3-2 0,3 3 0,-2-4 0,1 4 0,3 1 0,-2-2 0,2 2 0,1 2 0,-2-3 0,1 2 0,2 2 0,2 1 0,2 2 0,1 2 0,2 1 0,0 0 0,5 1 0,6-5 0,0-1 0,0 0 0,-3 2 0,2-5 0,-1 1 0,3-5 0,-1 3 0,-3 0 0,4-2 0,-3 2 0,4-4 0,-2 3 0,2-4 0,-1 3 0,-3 2 0,3-3 0,3-2 0,3-4 0,-1 3 0,1-3 0,2-1 0,-4 2 0,3-1 0,0-1 0,-3 3 0,2-1 0,2-2 0,-4 4 0,1-2 0,-3 3 0,2-1 0,2-2 0,-3 2 0,2-1 0,2-3 0,2-2 0,-3 4 0,1-2 0,1-1 0,2-1 0,-3 3 0,0-1 0,1-1 0,-3 4 0,1-2 0,1-1 0,2 4 0,2-2 0,2-2 0,1-1 0,0-3 0,-5 4 0,1-1 0,-1 0 0,1-2 0,2-1 0,0-2 0,2 0 0,0-1 0,0 0 0,1 0 0,-1 0 0,1-1 0,0 1 0,0 0 0,-1 0 0,0 0 0,1 0 0,-1 0 0,1 0 0,-6-5 0,0-1 0,0 1 0,1 1 0,-4-5 0,1 2 0,1 0 0,-4-3 0,2 1 0,1 2 0,2 2 0,-3-4 0,1 2 0,1 1 0,-4-4 0,2 1 0,2 2 0,1 2 0,-3-4 0,1 2 0,-4-5 0,2 2 0,1 2 0,-3-4 0,-4-2 0,-3-5 0,-3-2 0,-2-3 0,-2-2 0,-2-1 0,1 0 0,-1 0 0,0 0 0,1 0 0,-6 6 0,1-1 0,-1 1 0,-3 4 0,0 0 0,1-2 0,-2 3 0,0-1 0,3-2 0,-4 3 0,-3-1 0,1-3 0,-3 4 0,3-1 0,2-2 0,-1 3 0,2-2 0,-3 4 0,-3-2 0,2-2 0,-2-2 0,2-2 0,-2 3 0,4-1 0,-3 4 0,3-1 0,-3-1 0,-2 3 0,2-3 0,-2 5 0,3-3 0,-2 4 0,4-3 0,-3 3 0,-2-2 0,-3-3 0,-3 3 0,4-3 0,-1 3 0,-1 3 0,4-1 0,-2 2 0,5-3 0,-2 3 0,4-4 0,-3 3 0,-2 2 0,3-3 0,-3 3 0,-2 1 0,3-2 0,-2 1 0,-1 2 0,3-4 0,-2 3 0,-1-5 0,-3 3 0,-1 1 0,4-2 0,-1 1 0,-1 2 0,-1 3 0,-2 2 0,-1 1 0,0 1 0,-2 1 0,1 0 0,-1 1 0,0-1 0,1 1 0,-1-1 0,0 0 0,1 0 0,-1 0 0,1 0 0,0 0 0,-1 0 0,1 0 0,-1 0 0,1 0 0,4 5 0,1 6 0,0 0 0,5 4 0,-2-1 0,-1-4 0,3 3 0,4 3 0,-1-3 0,3 4 0,2 1 0,-3-2 0,3 2 0,-4-4 0,1 2 0,3 2 0,2 2 0,-3-3 0,1 2 0,2 1 0,1 2 0,-3-4 0,1 2 0,1 0 0,2 2 0,-5-4 0,2 2 0,1 0 0,1 2 0,2 1 0,1 2 0,1 1 0,1 0 0,0 0 0,0 1 0,1 0 0,-1-1 0,0 1 0,0 0 0,0-1 0,0 1 0,0-1 0,6-4 0,-1-1 0,1 0 0,4-5 0,4-3 0,-1 0 0,3-3 0,-3 3 0,3-3 0,3 4 0,1 2 0,3-1 0,-3 2 0,0-3 0,1-4 0,1-2 0,2 1 0,1-1 0,1-2 0,0-2 0,-5 4 0,0-1 0,1-1 0,-5 4 0,1-2 0,1-1 0,2-2 0,-3 4 0,0-1 0,2-2 0,-3 4 0,1-2 0,1-1 0,2-1 0,2-3 0,2-1 0,-5 4 0,1 0 0,1-1 0,0-1 0,2-1 0,0-1 0,2-1 0,0-1 0,-5 5 0,0 0 0,0 1 0,2-2 0,-5 4 0,1-1 0,1-1 0,1-1 0,3-2 0,0-1 0,2-1 0,0-1 0,1 0 0,-1 0 0,1 0 0,0-1 0,0 1 0,-1 0 0,1 0 0,-1 0 0,1 0 0,-1 0 0,-5-5 0,0-1 0,-5-4 0,1 0 0,0 2 0,-2-4 0,2 2 0,-4-3 0,2 2 0,-3-3 0,3 2 0,2 2 0,-2-2 0,2 3 0,-3-4 0,-4-3 0,3 2 0,-4-3 0,-1-2 0,2 3 0,4 4 0,-2-3 0,-2-1 0,-2-3 0,2 3 0,-2-2 0,-1-2 0,-2-2 0,3 4 0,-1-2 0,-1 0 0,-2-2 0,-1-2 0,-1 0 0,-1-2 0,-1 0 0,0-1 0,-1 0 0,1 1 0,0-1 0,-6 5 0,1 1 0,-1 0 0,-3 4 0,0 0 0,-4 3 0,2-1 0,2-3 0,-3 4 0,2-3 0,3-2 0,-4 3 0,2-1 0,-3 2 0,1 0 0,-3 2 0,-3 4 0,2-3 0,3-3 0,-1 3 0,2-4 0,-3 3 0,-2 3 0,-3-2 0,2-3 0,-2 2 0,-1 2 0,3-1 0,-1-4 0,-2 3 0,-1 2 0,3-3 0,-2 4 0,5-3 0,-1 2 0,-2 2 0,-2 3 0,2-3 0,0 2 0,3-5 0,-1 2 0,-2 2 0,-3 2 0,4-3 0,-2 1 0,-1 2 0,-2 1 0,-1 2 0,-2 1 0,4-4 0,0 1 0,0 0 0,-1 1 0,-2 1 0,-1 1 0,0 1 0,-1 1 0,-1 0 0,6-5 0,0 0 0,0 0 0,-2 1 0,5-5 0,-1 2 0,-1 0 0,-1 2 0,-3 2 0,0 1 0,-2 1 0,0 1 0,0 0 0,-1 0 0,0 0 0,0 1 0,1-1 0,-1 0 0,1 0 0,-1 0 0,1 0 0,-1 0 0,1 5 0,-1 1 0,1 0 0,-1 3 0,6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22:06.429"/>
    </inkml:context>
    <inkml:brush xml:id="br0">
      <inkml:brushProperty name="width" value="0.05" units="cm"/>
      <inkml:brushProperty name="height" value="0.05" units="cm"/>
      <inkml:brushProperty name="color" value="#AE198D"/>
      <inkml:brushProperty name="inkEffects" value="galaxy"/>
      <inkml:brushProperty name="anchorX" value="-3208.82544"/>
      <inkml:brushProperty name="anchorY" value="-3691.13452"/>
      <inkml:brushProperty name="scaleFactor" value="0.5"/>
    </inkml:brush>
  </inkml:definitions>
  <inkml:trace contextRef="#ctx0" brushRef="#br0">0 179 24575,'0'0'0,"0"-4"0,0-8 0,0-4 0,0-5 0,0-2 0,0-3 0,0-1 0,0-1 0,0 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7C080A-EF09-4E3C-ABD8-D9AFC2D6552C}" type="datetimeFigureOut">
              <a:rPr lang="en-CA" smtClean="0"/>
              <a:t>2025-08-05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65E378-D838-4542-8B82-AD1DF65D56EE}" type="slidenum">
              <a:rPr lang="en-CA" smtClean="0"/>
              <a:t>‹#›</a:t>
            </a:fld>
            <a:endParaRPr lang="en-CA"/>
          </a:p>
        </p:txBody>
      </p:sp>
    </p:spTree>
    <p:extLst>
      <p:ext uri="{BB962C8B-B14F-4D97-AF65-F5344CB8AC3E}">
        <p14:creationId xmlns:p14="http://schemas.microsoft.com/office/powerpoint/2010/main" val="2121767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E865E378-D838-4542-8B82-AD1DF65D56EE}" type="slidenum">
              <a:rPr lang="en-CA" smtClean="0"/>
              <a:t>9</a:t>
            </a:fld>
            <a:endParaRPr lang="en-CA"/>
          </a:p>
        </p:txBody>
      </p:sp>
    </p:spTree>
    <p:extLst>
      <p:ext uri="{BB962C8B-B14F-4D97-AF65-F5344CB8AC3E}">
        <p14:creationId xmlns:p14="http://schemas.microsoft.com/office/powerpoint/2010/main" val="2406670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8/5/2025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8/5/2025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8/5/2025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8/5/2025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8/5/2025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8/5/2025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8/5/2025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8/5/2025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8/5/2025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8/5/2025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8/5/2025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kaggle.com/datasets/atharvasoundankar/global-cybersecurity-threats-2015-2024"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customXml" Target="../ink/ink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t>Cyber security threats 2015-2024</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fontScale="55000" lnSpcReduction="20000"/>
          </a:bodyPr>
          <a:lstStyle/>
          <a:p>
            <a:r>
              <a:rPr lang="en-US" dirty="0"/>
              <a:t>By Eri (Elizabeth) Howard</a:t>
            </a:r>
          </a:p>
          <a:p>
            <a:r>
              <a:rPr lang="en-US" dirty="0"/>
              <a:t>August 2025</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p:txBody>
          <a:bodyPr/>
          <a:lstStyle/>
          <a:p>
            <a:r>
              <a:rPr lang="en-US" dirty="0"/>
              <a:t>About the dataset</a:t>
            </a:r>
          </a:p>
        </p:txBody>
      </p:sp>
      <p:sp>
        <p:nvSpPr>
          <p:cNvPr id="6" name="TextBox 5">
            <a:extLst>
              <a:ext uri="{FF2B5EF4-FFF2-40B4-BE49-F238E27FC236}">
                <a16:creationId xmlns:a16="http://schemas.microsoft.com/office/drawing/2014/main" id="{981D423B-C944-02A0-306F-DB8C933D6D6F}"/>
              </a:ext>
            </a:extLst>
          </p:cNvPr>
          <p:cNvSpPr txBox="1"/>
          <p:nvPr/>
        </p:nvSpPr>
        <p:spPr>
          <a:xfrm>
            <a:off x="581193" y="2333625"/>
            <a:ext cx="9953458" cy="3693319"/>
          </a:xfrm>
          <a:prstGeom prst="rect">
            <a:avLst/>
          </a:prstGeom>
          <a:noFill/>
        </p:spPr>
        <p:txBody>
          <a:bodyPr wrap="square" rtlCol="0">
            <a:spAutoFit/>
          </a:bodyPr>
          <a:lstStyle/>
          <a:p>
            <a:pPr marL="285750" indent="-285750">
              <a:buFont typeface="Arial" panose="020B0604020202020204" pitchFamily="34" charset="0"/>
              <a:buChar char="•"/>
            </a:pPr>
            <a:r>
              <a:rPr lang="en-US" dirty="0"/>
              <a:t>This dataset sourced from Kaggle here: </a:t>
            </a:r>
            <a:r>
              <a:rPr lang="en-US" dirty="0">
                <a:hlinkClick r:id="rId2"/>
              </a:rPr>
              <a:t>https://www.kaggle.com/datasets/atharvasoundankar/global-cybersecurity-threats-2015-2024</a:t>
            </a:r>
            <a:endParaRPr lang="en-US" dirty="0"/>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Covers cybersecurity incidents in 10 countries from 2015 to 2024.</a:t>
            </a:r>
          </a:p>
          <a:p>
            <a:endParaRPr lang="en-CA" dirty="0"/>
          </a:p>
          <a:p>
            <a:pPr marL="285750" indent="-285750">
              <a:buFont typeface="Arial" panose="020B0604020202020204" pitchFamily="34" charset="0"/>
              <a:buChar char="•"/>
            </a:pPr>
            <a:r>
              <a:rPr lang="en-CA" dirty="0"/>
              <a:t>The countries mentioned are Australia, Brazil, China, France, Germany, India, Japan, Russia, the UK, and the USA.</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There were initially 3000 rows, and 10 columns. No duplicate, missing or outlier variables.</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Variables include: Country, Year, Attack Type, Target Industry, Financial Loss, Number of Affected Users, Attack Source, Security Vulnerability Type, Defense Mechanism Used, &amp; Incident Resolution Time.</a:t>
            </a:r>
            <a:endParaRPr lang="en-US" dirty="0"/>
          </a:p>
        </p:txBody>
      </p:sp>
    </p:spTree>
    <p:extLst>
      <p:ext uri="{BB962C8B-B14F-4D97-AF65-F5344CB8AC3E}">
        <p14:creationId xmlns:p14="http://schemas.microsoft.com/office/powerpoint/2010/main" val="263784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610BD-78D3-014B-14E6-2216FB5D66F8}"/>
              </a:ext>
            </a:extLst>
          </p:cNvPr>
          <p:cNvSpPr>
            <a:spLocks noGrp="1"/>
          </p:cNvSpPr>
          <p:nvPr>
            <p:ph type="title"/>
          </p:nvPr>
        </p:nvSpPr>
        <p:spPr>
          <a:xfrm>
            <a:off x="581192" y="702156"/>
            <a:ext cx="11029616" cy="478944"/>
          </a:xfrm>
        </p:spPr>
        <p:txBody>
          <a:bodyPr>
            <a:normAutofit fontScale="90000"/>
          </a:bodyPr>
          <a:lstStyle/>
          <a:p>
            <a:r>
              <a:rPr lang="en-US" dirty="0"/>
              <a:t>More on Attack Types</a:t>
            </a:r>
            <a:endParaRPr lang="en-CA" dirty="0"/>
          </a:p>
        </p:txBody>
      </p:sp>
      <p:sp>
        <p:nvSpPr>
          <p:cNvPr id="3" name="Content Placeholder 2">
            <a:extLst>
              <a:ext uri="{FF2B5EF4-FFF2-40B4-BE49-F238E27FC236}">
                <a16:creationId xmlns:a16="http://schemas.microsoft.com/office/drawing/2014/main" id="{C2E745CD-02CC-6ABB-EB3E-DC542A1EBA2C}"/>
              </a:ext>
            </a:extLst>
          </p:cNvPr>
          <p:cNvSpPr>
            <a:spLocks noGrp="1"/>
          </p:cNvSpPr>
          <p:nvPr>
            <p:ph idx="1"/>
          </p:nvPr>
        </p:nvSpPr>
        <p:spPr>
          <a:xfrm>
            <a:off x="581192" y="1428750"/>
            <a:ext cx="11029615" cy="4546600"/>
          </a:xfrm>
        </p:spPr>
        <p:txBody>
          <a:bodyPr>
            <a:normAutofit fontScale="92500"/>
          </a:bodyPr>
          <a:lstStyle/>
          <a:p>
            <a:r>
              <a:rPr lang="en-US" dirty="0"/>
              <a:t>DDoS - Distributed Denial of Service - Basically overwhelm the servers of a website, or network with too many requests at once. Often a network of 'zombie' computers with a type of malware installed on them will be involved, unknown to the users of these devices. The same result can also happen accidently, like with people knowing a sale will be on a certain website at a certain time, and too many users overloading the servers by all wanting something at once.</a:t>
            </a:r>
          </a:p>
          <a:p>
            <a:r>
              <a:rPr lang="en-US" dirty="0"/>
              <a:t>Phishing - Scam websites or emails that seek to gain sensitive information by pretending to be others.</a:t>
            </a:r>
          </a:p>
          <a:p>
            <a:r>
              <a:rPr lang="en-US" dirty="0"/>
              <a:t>SQL Injection - Specific to data driven applications. These insert a malicious line of code that carries out an action such as sending all that information to the hacker. It can also be used to alter or destroy all the data in the system. - We should be very aware of these sorts of attacks!</a:t>
            </a:r>
          </a:p>
          <a:p>
            <a:r>
              <a:rPr lang="en-US" dirty="0"/>
              <a:t>Ransomware - Malicious software that makes a user's data or system inoperable or encrypted as to be inaccessible until an amount is paid to the attackers. </a:t>
            </a:r>
          </a:p>
          <a:p>
            <a:r>
              <a:rPr lang="en-US" dirty="0"/>
              <a:t>Malware - Malicious software, computer viruses of various types. intentionally designed to cause harm or disruption to systems, clients, networks or servers or to leak sensitive information etc.</a:t>
            </a:r>
          </a:p>
          <a:p>
            <a:r>
              <a:rPr lang="en-US" dirty="0"/>
              <a:t>Man-in-the-Middle - Attacker receives information by being 'in between' two sources. For example, someone's emails are being routed through an unknown 3rd party, or unsecured websites without knowledge of the other parties.</a:t>
            </a:r>
            <a:endParaRPr lang="en-CA" dirty="0"/>
          </a:p>
        </p:txBody>
      </p:sp>
    </p:spTree>
    <p:extLst>
      <p:ext uri="{BB962C8B-B14F-4D97-AF65-F5344CB8AC3E}">
        <p14:creationId xmlns:p14="http://schemas.microsoft.com/office/powerpoint/2010/main" val="1576720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34EC9-8EEA-4385-9D2C-3D49A43C6269}"/>
              </a:ext>
            </a:extLst>
          </p:cNvPr>
          <p:cNvSpPr>
            <a:spLocks noGrp="1"/>
          </p:cNvSpPr>
          <p:nvPr>
            <p:ph type="title"/>
          </p:nvPr>
        </p:nvSpPr>
        <p:spPr/>
        <p:txBody>
          <a:bodyPr/>
          <a:lstStyle/>
          <a:p>
            <a:r>
              <a:rPr lang="en-US" dirty="0"/>
              <a:t>On security vulnerabilities</a:t>
            </a:r>
            <a:endParaRPr lang="en-CA" dirty="0"/>
          </a:p>
        </p:txBody>
      </p:sp>
      <p:sp>
        <p:nvSpPr>
          <p:cNvPr id="3" name="Content Placeholder 2">
            <a:extLst>
              <a:ext uri="{FF2B5EF4-FFF2-40B4-BE49-F238E27FC236}">
                <a16:creationId xmlns:a16="http://schemas.microsoft.com/office/drawing/2014/main" id="{EA2A4954-410C-B037-D5E6-6B07A8B0CCA6}"/>
              </a:ext>
            </a:extLst>
          </p:cNvPr>
          <p:cNvSpPr>
            <a:spLocks noGrp="1"/>
          </p:cNvSpPr>
          <p:nvPr>
            <p:ph idx="1"/>
          </p:nvPr>
        </p:nvSpPr>
        <p:spPr/>
        <p:txBody>
          <a:bodyPr/>
          <a:lstStyle/>
          <a:p>
            <a:r>
              <a:rPr lang="en-US" dirty="0"/>
              <a:t>Zero-day - A hole or exploit in the software that the developers and those who could stop it are unaware of.</a:t>
            </a:r>
          </a:p>
          <a:p>
            <a:r>
              <a:rPr lang="en-US" dirty="0"/>
              <a:t>Social Engineering - Psychological influence (though not direct manipulation) of persons within the targeted organization.</a:t>
            </a:r>
          </a:p>
          <a:p>
            <a:r>
              <a:rPr lang="en-US" dirty="0"/>
              <a:t>Unpatched Software - Software where a zero-day or other vulnerability was fixed, but that has not been updated.</a:t>
            </a:r>
          </a:p>
          <a:p>
            <a:r>
              <a:rPr lang="en-US" dirty="0"/>
              <a:t>Weak Passwords </a:t>
            </a:r>
            <a:endParaRPr lang="en-CA" dirty="0"/>
          </a:p>
        </p:txBody>
      </p:sp>
    </p:spTree>
    <p:extLst>
      <p:ext uri="{BB962C8B-B14F-4D97-AF65-F5344CB8AC3E}">
        <p14:creationId xmlns:p14="http://schemas.microsoft.com/office/powerpoint/2010/main" val="2316397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B60C8-42FF-D7F5-090C-FA02C0984653}"/>
              </a:ext>
            </a:extLst>
          </p:cNvPr>
          <p:cNvSpPr>
            <a:spLocks noGrp="1"/>
          </p:cNvSpPr>
          <p:nvPr>
            <p:ph type="title"/>
          </p:nvPr>
        </p:nvSpPr>
        <p:spPr/>
        <p:txBody>
          <a:bodyPr/>
          <a:lstStyle/>
          <a:p>
            <a:r>
              <a:rPr lang="en-US" dirty="0"/>
              <a:t>On Defense mechanisms</a:t>
            </a:r>
            <a:endParaRPr lang="en-CA" dirty="0"/>
          </a:p>
        </p:txBody>
      </p:sp>
      <p:sp>
        <p:nvSpPr>
          <p:cNvPr id="3" name="Content Placeholder 2">
            <a:extLst>
              <a:ext uri="{FF2B5EF4-FFF2-40B4-BE49-F238E27FC236}">
                <a16:creationId xmlns:a16="http://schemas.microsoft.com/office/drawing/2014/main" id="{416A2A4D-CB00-2166-677E-2F98609EB891}"/>
              </a:ext>
            </a:extLst>
          </p:cNvPr>
          <p:cNvSpPr>
            <a:spLocks noGrp="1"/>
          </p:cNvSpPr>
          <p:nvPr>
            <p:ph idx="1"/>
          </p:nvPr>
        </p:nvSpPr>
        <p:spPr/>
        <p:txBody>
          <a:bodyPr/>
          <a:lstStyle/>
          <a:p>
            <a:r>
              <a:rPr lang="en-US" dirty="0"/>
              <a:t>Antivirus - Software that scans for 'viruses' or software that is flagged as potentially harmful in some way to the computer or network. </a:t>
            </a:r>
          </a:p>
          <a:p>
            <a:r>
              <a:rPr lang="en-US" dirty="0"/>
              <a:t>VPN  - Stands for Virtual Private Network - This encrypts the user's internet connection and disguises the user's identity online.</a:t>
            </a:r>
          </a:p>
          <a:p>
            <a:r>
              <a:rPr lang="en-US" dirty="0"/>
              <a:t>Encryption - This means that the data has been made into a cypher that needs to be decrypted or translated to be understood.</a:t>
            </a:r>
          </a:p>
          <a:p>
            <a:r>
              <a:rPr lang="en-US" dirty="0"/>
              <a:t>Firewall - a security system that protects the network, not the individual computer.AI-based Detection - Like an anti-virus but more advanced detection capabilities.</a:t>
            </a:r>
            <a:endParaRPr lang="en-CA" dirty="0"/>
          </a:p>
        </p:txBody>
      </p:sp>
    </p:spTree>
    <p:extLst>
      <p:ext uri="{BB962C8B-B14F-4D97-AF65-F5344CB8AC3E}">
        <p14:creationId xmlns:p14="http://schemas.microsoft.com/office/powerpoint/2010/main" val="862290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59544-5641-AD02-BE98-332E67E2F6C4}"/>
              </a:ext>
            </a:extLst>
          </p:cNvPr>
          <p:cNvSpPr>
            <a:spLocks noGrp="1"/>
          </p:cNvSpPr>
          <p:nvPr>
            <p:ph type="title"/>
          </p:nvPr>
        </p:nvSpPr>
        <p:spPr>
          <a:xfrm>
            <a:off x="581192" y="702156"/>
            <a:ext cx="11029616" cy="747265"/>
          </a:xfrm>
        </p:spPr>
        <p:txBody>
          <a:bodyPr/>
          <a:lstStyle/>
          <a:p>
            <a:r>
              <a:rPr lang="en-US" dirty="0"/>
              <a:t>Univariate Analysis –Countries involved</a:t>
            </a:r>
            <a:endParaRPr lang="en-CA" dirty="0"/>
          </a:p>
        </p:txBody>
      </p:sp>
      <p:pic>
        <p:nvPicPr>
          <p:cNvPr id="5" name="Picture 4">
            <a:extLst>
              <a:ext uri="{FF2B5EF4-FFF2-40B4-BE49-F238E27FC236}">
                <a16:creationId xmlns:a16="http://schemas.microsoft.com/office/drawing/2014/main" id="{AB9B1EEA-D8D7-05F3-5311-587E9E380DC1}"/>
              </a:ext>
            </a:extLst>
          </p:cNvPr>
          <p:cNvPicPr>
            <a:picLocks noChangeAspect="1"/>
          </p:cNvPicPr>
          <p:nvPr/>
        </p:nvPicPr>
        <p:blipFill>
          <a:blip r:embed="rId2"/>
          <a:stretch>
            <a:fillRect/>
          </a:stretch>
        </p:blipFill>
        <p:spPr>
          <a:xfrm>
            <a:off x="410710" y="1877150"/>
            <a:ext cx="11200098" cy="3959445"/>
          </a:xfrm>
          <a:prstGeom prst="rect">
            <a:avLst/>
          </a:prstGeom>
        </p:spPr>
      </p:pic>
    </p:spTree>
    <p:extLst>
      <p:ext uri="{BB962C8B-B14F-4D97-AF65-F5344CB8AC3E}">
        <p14:creationId xmlns:p14="http://schemas.microsoft.com/office/powerpoint/2010/main" val="1481143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10015B9-6046-41B8-83BD-71778D2F97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Rectangle 14">
            <a:extLst>
              <a:ext uri="{FF2B5EF4-FFF2-40B4-BE49-F238E27FC236}">
                <a16:creationId xmlns:a16="http://schemas.microsoft.com/office/drawing/2014/main" id="{53908232-52E2-4794-A6C1-54300FB989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7" name="Rectangle 16">
            <a:extLst>
              <a:ext uri="{FF2B5EF4-FFF2-40B4-BE49-F238E27FC236}">
                <a16:creationId xmlns:a16="http://schemas.microsoft.com/office/drawing/2014/main" id="{D2B9299F-BED7-44C5-9CC5-E542F9193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Rectangle 18">
            <a:extLst>
              <a:ext uri="{FF2B5EF4-FFF2-40B4-BE49-F238E27FC236}">
                <a16:creationId xmlns:a16="http://schemas.microsoft.com/office/drawing/2014/main" id="{E9DDF273-E040-4765-AD05-872458E13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useBgFill="1">
        <p:nvSpPr>
          <p:cNvPr id="21" name="Rectangle 20">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AEAE264-4D36-B0AA-9CC5-029769711C9E}"/>
              </a:ext>
            </a:extLst>
          </p:cNvPr>
          <p:cNvSpPr txBox="1"/>
          <p:nvPr/>
        </p:nvSpPr>
        <p:spPr>
          <a:xfrm>
            <a:off x="581191" y="1020431"/>
            <a:ext cx="9992775" cy="609925"/>
          </a:xfrm>
          <a:prstGeom prst="rect">
            <a:avLst/>
          </a:prstGeom>
        </p:spPr>
        <p:txBody>
          <a:bodyPr vert="horz" lIns="91440" tIns="45720" rIns="91440" bIns="45720" rtlCol="0" anchor="b">
            <a:normAutofit lnSpcReduction="10000"/>
          </a:bodyPr>
          <a:lstStyle/>
          <a:p>
            <a:pPr defTabSz="457200">
              <a:spcBef>
                <a:spcPct val="0"/>
              </a:spcBef>
              <a:spcAft>
                <a:spcPts val="600"/>
              </a:spcAft>
            </a:pPr>
            <a:r>
              <a:rPr lang="en-US" sz="3600" cap="all" dirty="0">
                <a:solidFill>
                  <a:schemeClr val="tx1">
                    <a:lumMod val="75000"/>
                    <a:lumOff val="25000"/>
                  </a:schemeClr>
                </a:solidFill>
                <a:latin typeface="+mj-lt"/>
                <a:ea typeface="+mj-ea"/>
                <a:cs typeface="+mj-cs"/>
              </a:rPr>
              <a:t>Attack Types and Vulnerabilities </a:t>
            </a:r>
          </a:p>
        </p:txBody>
      </p:sp>
      <p:sp>
        <p:nvSpPr>
          <p:cNvPr id="23" name="Rectangle 22">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5" name="Rectangle 24">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7" name="Rectangle 26">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7" name="Picture 6">
            <a:extLst>
              <a:ext uri="{FF2B5EF4-FFF2-40B4-BE49-F238E27FC236}">
                <a16:creationId xmlns:a16="http://schemas.microsoft.com/office/drawing/2014/main" id="{EEE32FE7-F930-B3BB-D4E0-36CDB5FABC34}"/>
              </a:ext>
            </a:extLst>
          </p:cNvPr>
          <p:cNvPicPr>
            <a:picLocks noChangeAspect="1"/>
          </p:cNvPicPr>
          <p:nvPr/>
        </p:nvPicPr>
        <p:blipFill>
          <a:blip r:embed="rId2"/>
          <a:stretch>
            <a:fillRect/>
          </a:stretch>
        </p:blipFill>
        <p:spPr>
          <a:xfrm>
            <a:off x="0" y="2383234"/>
            <a:ext cx="4426176" cy="3485614"/>
          </a:xfrm>
          <a:prstGeom prst="rect">
            <a:avLst/>
          </a:prstGeom>
        </p:spPr>
      </p:pic>
      <p:pic>
        <p:nvPicPr>
          <p:cNvPr id="5" name="Picture 4">
            <a:extLst>
              <a:ext uri="{FF2B5EF4-FFF2-40B4-BE49-F238E27FC236}">
                <a16:creationId xmlns:a16="http://schemas.microsoft.com/office/drawing/2014/main" id="{E12B1C57-3EA9-B518-2044-6FF19A9FE8AA}"/>
              </a:ext>
            </a:extLst>
          </p:cNvPr>
          <p:cNvPicPr>
            <a:picLocks noChangeAspect="1"/>
          </p:cNvPicPr>
          <p:nvPr/>
        </p:nvPicPr>
        <p:blipFill>
          <a:blip r:embed="rId3"/>
          <a:stretch>
            <a:fillRect/>
          </a:stretch>
        </p:blipFill>
        <p:spPr>
          <a:xfrm>
            <a:off x="4407407" y="2273022"/>
            <a:ext cx="7746529" cy="3970096"/>
          </a:xfrm>
          <a:prstGeom prst="rect">
            <a:avLst/>
          </a:prstGeom>
        </p:spPr>
      </p:pic>
    </p:spTree>
    <p:extLst>
      <p:ext uri="{BB962C8B-B14F-4D97-AF65-F5344CB8AC3E}">
        <p14:creationId xmlns:p14="http://schemas.microsoft.com/office/powerpoint/2010/main" val="2958481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7F2BB43-1E8B-40A7-9733-9AEE76BFE2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Rectangle 14">
            <a:extLst>
              <a:ext uri="{FF2B5EF4-FFF2-40B4-BE49-F238E27FC236}">
                <a16:creationId xmlns:a16="http://schemas.microsoft.com/office/drawing/2014/main" id="{2F2499BD-C67D-4CD4-9747-4DCC7EF1F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7" name="Rectangle 16">
            <a:extLst>
              <a:ext uri="{FF2B5EF4-FFF2-40B4-BE49-F238E27FC236}">
                <a16:creationId xmlns:a16="http://schemas.microsoft.com/office/drawing/2014/main" id="{80D02CAC-A533-4E24-84A6-B3171E16A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Rectangle 18">
            <a:extLst>
              <a:ext uri="{FF2B5EF4-FFF2-40B4-BE49-F238E27FC236}">
                <a16:creationId xmlns:a16="http://schemas.microsoft.com/office/drawing/2014/main" id="{44DBAF48-B17B-4AA7-9E99-4EC0C9905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useBgFill="1">
        <p:nvSpPr>
          <p:cNvPr id="21" name="Rectangle 20">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CA15D30-5BAC-C4BF-E881-26CE94B80880}"/>
              </a:ext>
            </a:extLst>
          </p:cNvPr>
          <p:cNvSpPr txBox="1"/>
          <p:nvPr/>
        </p:nvSpPr>
        <p:spPr>
          <a:xfrm>
            <a:off x="581192" y="1020432"/>
            <a:ext cx="8767090" cy="487356"/>
          </a:xfrm>
          <a:prstGeom prst="rect">
            <a:avLst/>
          </a:prstGeom>
        </p:spPr>
        <p:txBody>
          <a:bodyPr vert="horz" lIns="91440" tIns="45720" rIns="91440" bIns="45720" rtlCol="0" anchor="b">
            <a:normAutofit fontScale="85000" lnSpcReduction="20000"/>
          </a:bodyPr>
          <a:lstStyle/>
          <a:p>
            <a:pPr defTabSz="457200">
              <a:spcBef>
                <a:spcPct val="0"/>
              </a:spcBef>
              <a:spcAft>
                <a:spcPts val="600"/>
              </a:spcAft>
            </a:pPr>
            <a:r>
              <a:rPr lang="en-US" sz="3600" cap="all" dirty="0">
                <a:solidFill>
                  <a:schemeClr val="tx1">
                    <a:lumMod val="75000"/>
                    <a:lumOff val="25000"/>
                  </a:schemeClr>
                </a:solidFill>
                <a:latin typeface="+mj-lt"/>
                <a:ea typeface="+mj-ea"/>
                <a:cs typeface="+mj-cs"/>
              </a:rPr>
              <a:t>Industries and Defense Mechanisms</a:t>
            </a:r>
          </a:p>
        </p:txBody>
      </p:sp>
      <p:sp>
        <p:nvSpPr>
          <p:cNvPr id="23" name="Rectangle 22">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5" name="Rectangle 24">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7" name="Rectangle 26">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5" name="Picture 4">
            <a:extLst>
              <a:ext uri="{FF2B5EF4-FFF2-40B4-BE49-F238E27FC236}">
                <a16:creationId xmlns:a16="http://schemas.microsoft.com/office/drawing/2014/main" id="{8359B771-483F-6745-82C3-C17081FD9DCE}"/>
              </a:ext>
            </a:extLst>
          </p:cNvPr>
          <p:cNvPicPr>
            <a:picLocks noChangeAspect="1"/>
          </p:cNvPicPr>
          <p:nvPr/>
        </p:nvPicPr>
        <p:blipFill>
          <a:blip r:embed="rId2"/>
          <a:srcRect t="6260" r="2" b="834"/>
          <a:stretch>
            <a:fillRect/>
          </a:stretch>
        </p:blipFill>
        <p:spPr>
          <a:xfrm>
            <a:off x="1" y="2018261"/>
            <a:ext cx="7143750" cy="3152615"/>
          </a:xfrm>
          <a:prstGeom prst="rect">
            <a:avLst/>
          </a:prstGeom>
        </p:spPr>
      </p:pic>
      <p:pic>
        <p:nvPicPr>
          <p:cNvPr id="10" name="Picture 9">
            <a:extLst>
              <a:ext uri="{FF2B5EF4-FFF2-40B4-BE49-F238E27FC236}">
                <a16:creationId xmlns:a16="http://schemas.microsoft.com/office/drawing/2014/main" id="{267D551C-778D-EEA2-5731-18DEEC8E3C81}"/>
              </a:ext>
            </a:extLst>
          </p:cNvPr>
          <p:cNvPicPr>
            <a:picLocks noChangeAspect="1"/>
          </p:cNvPicPr>
          <p:nvPr/>
        </p:nvPicPr>
        <p:blipFill>
          <a:blip r:embed="rId3"/>
          <a:stretch>
            <a:fillRect/>
          </a:stretch>
        </p:blipFill>
        <p:spPr>
          <a:xfrm>
            <a:off x="7057237" y="1906414"/>
            <a:ext cx="4917831" cy="3407758"/>
          </a:xfrm>
          <a:prstGeom prst="rect">
            <a:avLst/>
          </a:prstGeom>
        </p:spPr>
      </p:pic>
    </p:spTree>
    <p:extLst>
      <p:ext uri="{BB962C8B-B14F-4D97-AF65-F5344CB8AC3E}">
        <p14:creationId xmlns:p14="http://schemas.microsoft.com/office/powerpoint/2010/main" val="4114468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E33B48-B3FB-1136-6360-6AE846E9DBB6}"/>
              </a:ext>
            </a:extLst>
          </p:cNvPr>
          <p:cNvPicPr>
            <a:picLocks noChangeAspect="1"/>
          </p:cNvPicPr>
          <p:nvPr/>
        </p:nvPicPr>
        <p:blipFill>
          <a:blip r:embed="rId3"/>
          <a:stretch>
            <a:fillRect/>
          </a:stretch>
        </p:blipFill>
        <p:spPr>
          <a:xfrm>
            <a:off x="267585" y="1748669"/>
            <a:ext cx="3898510" cy="2799601"/>
          </a:xfrm>
          <a:prstGeom prst="rect">
            <a:avLst/>
          </a:prstGeom>
        </p:spPr>
      </p:pic>
      <p:sp>
        <p:nvSpPr>
          <p:cNvPr id="6" name="TextBox 5">
            <a:extLst>
              <a:ext uri="{FF2B5EF4-FFF2-40B4-BE49-F238E27FC236}">
                <a16:creationId xmlns:a16="http://schemas.microsoft.com/office/drawing/2014/main" id="{2B56B59C-15BF-5AA1-B292-59187DC148F6}"/>
              </a:ext>
            </a:extLst>
          </p:cNvPr>
          <p:cNvSpPr txBox="1"/>
          <p:nvPr/>
        </p:nvSpPr>
        <p:spPr>
          <a:xfrm>
            <a:off x="1045029" y="5174901"/>
            <a:ext cx="2672861" cy="369332"/>
          </a:xfrm>
          <a:prstGeom prst="rect">
            <a:avLst/>
          </a:prstGeom>
          <a:noFill/>
        </p:spPr>
        <p:txBody>
          <a:bodyPr wrap="square" rtlCol="0">
            <a:spAutoFit/>
          </a:bodyPr>
          <a:lstStyle/>
          <a:p>
            <a:r>
              <a:rPr lang="en-US" dirty="0"/>
              <a:t>Financial Loss in Millions</a:t>
            </a:r>
            <a:endParaRPr lang="en-CA" dirty="0"/>
          </a:p>
        </p:txBody>
      </p:sp>
      <p:pic>
        <p:nvPicPr>
          <p:cNvPr id="8" name="Picture 7">
            <a:extLst>
              <a:ext uri="{FF2B5EF4-FFF2-40B4-BE49-F238E27FC236}">
                <a16:creationId xmlns:a16="http://schemas.microsoft.com/office/drawing/2014/main" id="{F2426B76-6597-3C8F-643C-9334F2E31EAA}"/>
              </a:ext>
            </a:extLst>
          </p:cNvPr>
          <p:cNvPicPr>
            <a:picLocks noChangeAspect="1"/>
          </p:cNvPicPr>
          <p:nvPr/>
        </p:nvPicPr>
        <p:blipFill>
          <a:blip r:embed="rId4"/>
          <a:stretch>
            <a:fillRect/>
          </a:stretch>
        </p:blipFill>
        <p:spPr>
          <a:xfrm>
            <a:off x="8176490" y="1748668"/>
            <a:ext cx="3898510" cy="2799601"/>
          </a:xfrm>
          <a:prstGeom prst="rect">
            <a:avLst/>
          </a:prstGeom>
        </p:spPr>
      </p:pic>
      <p:sp>
        <p:nvSpPr>
          <p:cNvPr id="9" name="TextBox 8">
            <a:extLst>
              <a:ext uri="{FF2B5EF4-FFF2-40B4-BE49-F238E27FC236}">
                <a16:creationId xmlns:a16="http://schemas.microsoft.com/office/drawing/2014/main" id="{AE15F819-C7DD-1581-C36B-0B4BB0D1BB49}"/>
              </a:ext>
            </a:extLst>
          </p:cNvPr>
          <p:cNvSpPr txBox="1"/>
          <p:nvPr/>
        </p:nvSpPr>
        <p:spPr>
          <a:xfrm>
            <a:off x="8872694" y="5174901"/>
            <a:ext cx="3235569" cy="369332"/>
          </a:xfrm>
          <a:prstGeom prst="rect">
            <a:avLst/>
          </a:prstGeom>
          <a:noFill/>
        </p:spPr>
        <p:txBody>
          <a:bodyPr wrap="square" rtlCol="0">
            <a:spAutoFit/>
          </a:bodyPr>
          <a:lstStyle/>
          <a:p>
            <a:r>
              <a:rPr lang="en-US" dirty="0"/>
              <a:t>Resolution Time in Hours</a:t>
            </a:r>
            <a:endParaRPr lang="en-CA" dirty="0"/>
          </a:p>
        </p:txBody>
      </p:sp>
      <p:pic>
        <p:nvPicPr>
          <p:cNvPr id="11" name="Picture 10">
            <a:extLst>
              <a:ext uri="{FF2B5EF4-FFF2-40B4-BE49-F238E27FC236}">
                <a16:creationId xmlns:a16="http://schemas.microsoft.com/office/drawing/2014/main" id="{13F1B987-5B7B-D7BA-5C9D-BB0692CB8109}"/>
              </a:ext>
            </a:extLst>
          </p:cNvPr>
          <p:cNvPicPr>
            <a:picLocks noChangeAspect="1"/>
          </p:cNvPicPr>
          <p:nvPr/>
        </p:nvPicPr>
        <p:blipFill>
          <a:blip r:embed="rId5"/>
          <a:stretch>
            <a:fillRect/>
          </a:stretch>
        </p:blipFill>
        <p:spPr>
          <a:xfrm>
            <a:off x="4312183" y="1748669"/>
            <a:ext cx="3718218" cy="2799600"/>
          </a:xfrm>
          <a:prstGeom prst="rect">
            <a:avLst/>
          </a:prstGeom>
        </p:spPr>
      </p:pic>
      <p:sp>
        <p:nvSpPr>
          <p:cNvPr id="12" name="TextBox 11">
            <a:extLst>
              <a:ext uri="{FF2B5EF4-FFF2-40B4-BE49-F238E27FC236}">
                <a16:creationId xmlns:a16="http://schemas.microsoft.com/office/drawing/2014/main" id="{77B35CE6-19B2-430B-10FE-23B91E014EA8}"/>
              </a:ext>
            </a:extLst>
          </p:cNvPr>
          <p:cNvSpPr txBox="1"/>
          <p:nvPr/>
        </p:nvSpPr>
        <p:spPr>
          <a:xfrm>
            <a:off x="4953837" y="5174901"/>
            <a:ext cx="2954216" cy="369332"/>
          </a:xfrm>
          <a:prstGeom prst="rect">
            <a:avLst/>
          </a:prstGeom>
          <a:noFill/>
        </p:spPr>
        <p:txBody>
          <a:bodyPr wrap="square" rtlCol="0">
            <a:spAutoFit/>
          </a:bodyPr>
          <a:lstStyle/>
          <a:p>
            <a:r>
              <a:rPr lang="en-US" dirty="0"/>
              <a:t>Number of Users Impacted</a:t>
            </a:r>
            <a:endParaRPr lang="en-CA" dirty="0"/>
          </a:p>
        </p:txBody>
      </p:sp>
    </p:spTree>
    <p:extLst>
      <p:ext uri="{BB962C8B-B14F-4D97-AF65-F5344CB8AC3E}">
        <p14:creationId xmlns:p14="http://schemas.microsoft.com/office/powerpoint/2010/main" val="425758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0401440-1DC9-4C9E-A3BA-4DECEEB46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948512B-9978-0EF7-9DBF-760BA2F2E915}"/>
              </a:ext>
            </a:extLst>
          </p:cNvPr>
          <p:cNvPicPr>
            <a:picLocks noChangeAspect="1"/>
          </p:cNvPicPr>
          <p:nvPr/>
        </p:nvPicPr>
        <p:blipFill>
          <a:blip r:embed="rId2"/>
          <a:stretch>
            <a:fillRect/>
          </a:stretch>
        </p:blipFill>
        <p:spPr>
          <a:xfrm>
            <a:off x="1339229" y="447234"/>
            <a:ext cx="9517993" cy="3450273"/>
          </a:xfrm>
          <a:prstGeom prst="rect">
            <a:avLst/>
          </a:prstGeom>
        </p:spPr>
      </p:pic>
      <p:sp>
        <p:nvSpPr>
          <p:cNvPr id="12" name="Rectangle 11">
            <a:extLst>
              <a:ext uri="{FF2B5EF4-FFF2-40B4-BE49-F238E27FC236}">
                <a16:creationId xmlns:a16="http://schemas.microsoft.com/office/drawing/2014/main" id="{36B822CC-7DA9-4417-AA94-64CEB676F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AFA01E88-71CC-4FF3-9E81-51E0C32B4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59623"/>
            <a:ext cx="11303626" cy="2051143"/>
          </a:xfrm>
          <a:prstGeom prst="rect">
            <a:avLst/>
          </a:prstGeom>
          <a:solidFill>
            <a:srgbClr val="465359"/>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1">
            <a:extLst>
              <a:ext uri="{FF2B5EF4-FFF2-40B4-BE49-F238E27FC236}">
                <a16:creationId xmlns:a16="http://schemas.microsoft.com/office/drawing/2014/main" id="{4E3B82CE-9427-463C-6AC9-881FB2B8D17C}"/>
              </a:ext>
            </a:extLst>
          </p:cNvPr>
          <p:cNvSpPr>
            <a:spLocks noGrp="1"/>
          </p:cNvSpPr>
          <p:nvPr>
            <p:ph type="title"/>
          </p:nvPr>
        </p:nvSpPr>
        <p:spPr>
          <a:xfrm>
            <a:off x="679600" y="4596992"/>
            <a:ext cx="3353432" cy="1607013"/>
          </a:xfrm>
        </p:spPr>
        <p:txBody>
          <a:bodyPr anchor="ctr">
            <a:normAutofit/>
          </a:bodyPr>
          <a:lstStyle/>
          <a:p>
            <a:r>
              <a:rPr lang="en-US">
                <a:solidFill>
                  <a:srgbClr val="FFFFFF"/>
                </a:solidFill>
              </a:rPr>
              <a:t>Bivariate Analysis</a:t>
            </a:r>
            <a:endParaRPr lang="en-CA">
              <a:solidFill>
                <a:srgbClr val="FFFFFF"/>
              </a:solidFill>
            </a:endParaRPr>
          </a:p>
        </p:txBody>
      </p:sp>
      <p:sp>
        <p:nvSpPr>
          <p:cNvPr id="3" name="Content Placeholder 2">
            <a:extLst>
              <a:ext uri="{FF2B5EF4-FFF2-40B4-BE49-F238E27FC236}">
                <a16:creationId xmlns:a16="http://schemas.microsoft.com/office/drawing/2014/main" id="{B75F2D95-AADF-60F5-16A8-3BD53B61804E}"/>
              </a:ext>
            </a:extLst>
          </p:cNvPr>
          <p:cNvSpPr>
            <a:spLocks noGrp="1"/>
          </p:cNvSpPr>
          <p:nvPr>
            <p:ph idx="1"/>
          </p:nvPr>
        </p:nvSpPr>
        <p:spPr>
          <a:xfrm>
            <a:off x="4271491" y="4596992"/>
            <a:ext cx="7240909" cy="1607012"/>
          </a:xfrm>
        </p:spPr>
        <p:txBody>
          <a:bodyPr>
            <a:normAutofit/>
          </a:bodyPr>
          <a:lstStyle/>
          <a:p>
            <a:r>
              <a:rPr lang="en-US" dirty="0">
                <a:solidFill>
                  <a:srgbClr val="FFFFFF"/>
                </a:solidFill>
              </a:rPr>
              <a:t>Attack Source vs Target Industry is the only place where there was any statistically significant correlation between any categorical variables at all.</a:t>
            </a:r>
            <a:endParaRPr lang="en-CA" dirty="0">
              <a:solidFill>
                <a:srgbClr val="FFFFFF"/>
              </a:solidFill>
            </a:endParaRPr>
          </a:p>
        </p:txBody>
      </p:sp>
    </p:spTree>
    <p:extLst>
      <p:ext uri="{BB962C8B-B14F-4D97-AF65-F5344CB8AC3E}">
        <p14:creationId xmlns:p14="http://schemas.microsoft.com/office/powerpoint/2010/main" val="2461941752"/>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B7C6849-98ED-AC77-3178-CA465EE03097}"/>
              </a:ext>
            </a:extLst>
          </p:cNvPr>
          <p:cNvSpPr>
            <a:spLocks noGrp="1"/>
          </p:cNvSpPr>
          <p:nvPr>
            <p:ph type="title"/>
          </p:nvPr>
        </p:nvSpPr>
        <p:spPr>
          <a:xfrm>
            <a:off x="609906" y="702156"/>
            <a:ext cx="3728630" cy="756058"/>
          </a:xfrm>
        </p:spPr>
        <p:txBody>
          <a:bodyPr>
            <a:normAutofit/>
          </a:bodyPr>
          <a:lstStyle/>
          <a:p>
            <a:r>
              <a:rPr lang="en-US" dirty="0"/>
              <a:t>Bivariate - Numeric</a:t>
            </a:r>
            <a:endParaRPr lang="en-CA" dirty="0"/>
          </a:p>
        </p:txBody>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90674885-74F2-F10B-7C8D-E704B9E8411A}"/>
              </a:ext>
            </a:extLst>
          </p:cNvPr>
          <p:cNvSpPr>
            <a:spLocks noGrp="1"/>
          </p:cNvSpPr>
          <p:nvPr>
            <p:ph idx="1"/>
          </p:nvPr>
        </p:nvSpPr>
        <p:spPr>
          <a:xfrm>
            <a:off x="609906" y="2340864"/>
            <a:ext cx="3568661" cy="3634486"/>
          </a:xfrm>
        </p:spPr>
        <p:txBody>
          <a:bodyPr>
            <a:normAutofit/>
          </a:bodyPr>
          <a:lstStyle/>
          <a:p>
            <a:r>
              <a:rPr lang="en-US" dirty="0"/>
              <a:t>We can see a small correlation between number of users impacted and incident resolution time, which makes sense.</a:t>
            </a:r>
            <a:endParaRPr lang="en-CA" dirty="0"/>
          </a:p>
        </p:txBody>
      </p:sp>
      <p:pic>
        <p:nvPicPr>
          <p:cNvPr id="5" name="Picture 4">
            <a:extLst>
              <a:ext uri="{FF2B5EF4-FFF2-40B4-BE49-F238E27FC236}">
                <a16:creationId xmlns:a16="http://schemas.microsoft.com/office/drawing/2014/main" id="{E8C44E74-7023-A462-4FD4-F1BA86594AF5}"/>
              </a:ext>
            </a:extLst>
          </p:cNvPr>
          <p:cNvPicPr>
            <a:picLocks noChangeAspect="1"/>
          </p:cNvPicPr>
          <p:nvPr/>
        </p:nvPicPr>
        <p:blipFill>
          <a:blip r:embed="rId2"/>
          <a:srcRect b="10610"/>
          <a:stretch>
            <a:fillRect/>
          </a:stretch>
        </p:blipFill>
        <p:spPr>
          <a:xfrm>
            <a:off x="4654295" y="10"/>
            <a:ext cx="7537705" cy="6857990"/>
          </a:xfrm>
          <a:prstGeom prst="rect">
            <a:avLst/>
          </a:prstGeom>
        </p:spPr>
      </p:pic>
      <mc:AlternateContent xmlns:mc="http://schemas.openxmlformats.org/markup-compatibility/2006">
        <mc:Choice xmlns:p14="http://schemas.microsoft.com/office/powerpoint/2010/main" xmlns:aink="http://schemas.microsoft.com/office/drawing/2016/ink" Requires="p14 aink">
          <p:contentPart p14:bwMode="auto" r:id="rId3">
            <p14:nvContentPartPr>
              <p14:cNvPr id="8" name="Ink 7">
                <a:extLst>
                  <a:ext uri="{FF2B5EF4-FFF2-40B4-BE49-F238E27FC236}">
                    <a16:creationId xmlns:a16="http://schemas.microsoft.com/office/drawing/2014/main" id="{BE6511AE-CCDE-5FE7-F9EF-DC20AC11E0E0}"/>
                  </a:ext>
                </a:extLst>
              </p14:cNvPr>
              <p14:cNvContentPartPr/>
              <p14:nvPr/>
            </p14:nvContentPartPr>
            <p14:xfrm>
              <a:off x="9533640" y="3780630"/>
              <a:ext cx="830160" cy="515520"/>
            </p14:xfrm>
          </p:contentPart>
        </mc:Choice>
        <mc:Fallback>
          <p:pic>
            <p:nvPicPr>
              <p:cNvPr id="8" name="Ink 7">
                <a:extLst>
                  <a:ext uri="{FF2B5EF4-FFF2-40B4-BE49-F238E27FC236}">
                    <a16:creationId xmlns:a16="http://schemas.microsoft.com/office/drawing/2014/main" id="{BE6511AE-CCDE-5FE7-F9EF-DC20AC11E0E0}"/>
                  </a:ext>
                </a:extLst>
              </p:cNvPr>
              <p:cNvPicPr/>
              <p:nvPr/>
            </p:nvPicPr>
            <p:blipFill>
              <a:blip r:embed="rId4"/>
              <a:stretch>
                <a:fillRect/>
              </a:stretch>
            </p:blipFill>
            <p:spPr>
              <a:xfrm>
                <a:off x="9525000" y="3771990"/>
                <a:ext cx="847800" cy="533160"/>
              </a:xfrm>
              <a:prstGeom prst="rect">
                <a:avLst/>
              </a:prstGeom>
            </p:spPr>
          </p:pic>
        </mc:Fallback>
      </mc:AlternateContent>
    </p:spTree>
    <p:extLst>
      <p:ext uri="{BB962C8B-B14F-4D97-AF65-F5344CB8AC3E}">
        <p14:creationId xmlns:p14="http://schemas.microsoft.com/office/powerpoint/2010/main" val="3323089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601200"/>
            <a:ext cx="3703320"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D61ECF8-4350-35C5-29A0-C10EB6B57325}"/>
              </a:ext>
            </a:extLst>
          </p:cNvPr>
          <p:cNvSpPr>
            <a:spLocks noGrp="1"/>
          </p:cNvSpPr>
          <p:nvPr>
            <p:ph type="title"/>
          </p:nvPr>
        </p:nvSpPr>
        <p:spPr>
          <a:xfrm>
            <a:off x="672280" y="944752"/>
            <a:ext cx="3259016" cy="1462692"/>
          </a:xfrm>
        </p:spPr>
        <p:txBody>
          <a:bodyPr>
            <a:normAutofit/>
          </a:bodyPr>
          <a:lstStyle/>
          <a:p>
            <a:r>
              <a:rPr lang="en-US" dirty="0">
                <a:solidFill>
                  <a:srgbClr val="FFFFFF"/>
                </a:solidFill>
              </a:rPr>
              <a:t>All Categoric</a:t>
            </a:r>
            <a:endParaRPr lang="en-CA" dirty="0">
              <a:solidFill>
                <a:srgbClr val="FFFFFF"/>
              </a:solidFill>
            </a:endParaRPr>
          </a:p>
        </p:txBody>
      </p:sp>
      <p:sp>
        <p:nvSpPr>
          <p:cNvPr id="14" name="Rectangle 13">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8" name="Rectangle 17">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1AC52DAC-ECF4-28E8-7303-EA931DEBB3F6}"/>
              </a:ext>
            </a:extLst>
          </p:cNvPr>
          <p:cNvSpPr>
            <a:spLocks noGrp="1"/>
          </p:cNvSpPr>
          <p:nvPr>
            <p:ph idx="1"/>
          </p:nvPr>
        </p:nvSpPr>
        <p:spPr>
          <a:xfrm>
            <a:off x="671513" y="2536031"/>
            <a:ext cx="3123783" cy="3671936"/>
          </a:xfrm>
        </p:spPr>
        <p:txBody>
          <a:bodyPr anchor="t">
            <a:normAutofit/>
          </a:bodyPr>
          <a:lstStyle/>
          <a:p>
            <a:r>
              <a:rPr lang="en-US" dirty="0">
                <a:solidFill>
                  <a:srgbClr val="FFFFFF"/>
                </a:solidFill>
              </a:rPr>
              <a:t>The strongest connections we can see are Target and Attack Type, then</a:t>
            </a:r>
          </a:p>
          <a:p>
            <a:r>
              <a:rPr lang="en-US" dirty="0">
                <a:solidFill>
                  <a:srgbClr val="FFFFFF"/>
                </a:solidFill>
              </a:rPr>
              <a:t>Country and Defense Type</a:t>
            </a:r>
            <a:endParaRPr lang="en-CA" dirty="0">
              <a:solidFill>
                <a:srgbClr val="FFFFFF"/>
              </a:solidFill>
            </a:endParaRPr>
          </a:p>
        </p:txBody>
      </p:sp>
      <p:pic>
        <p:nvPicPr>
          <p:cNvPr id="7" name="Picture 6">
            <a:extLst>
              <a:ext uri="{FF2B5EF4-FFF2-40B4-BE49-F238E27FC236}">
                <a16:creationId xmlns:a16="http://schemas.microsoft.com/office/drawing/2014/main" id="{22A0CB73-0431-A02A-D096-7A949058D35D}"/>
              </a:ext>
            </a:extLst>
          </p:cNvPr>
          <p:cNvPicPr>
            <a:picLocks noChangeAspect="1"/>
          </p:cNvPicPr>
          <p:nvPr/>
        </p:nvPicPr>
        <p:blipFill>
          <a:blip r:embed="rId2"/>
          <a:stretch>
            <a:fillRect/>
          </a:stretch>
        </p:blipFill>
        <p:spPr>
          <a:xfrm>
            <a:off x="4887908" y="0"/>
            <a:ext cx="6631812" cy="6858000"/>
          </a:xfrm>
          <a:prstGeom prst="rect">
            <a:avLst/>
          </a:prstGeom>
        </p:spPr>
      </p:pic>
      <mc:AlternateContent xmlns:mc="http://schemas.openxmlformats.org/markup-compatibility/2006">
        <mc:Choice xmlns:p14="http://schemas.microsoft.com/office/powerpoint/2010/main" xmlns:aink="http://schemas.microsoft.com/office/drawing/2016/ink" Requires="p14 aink">
          <p:contentPart p14:bwMode="auto" r:id="rId3">
            <p14:nvContentPartPr>
              <p14:cNvPr id="8" name="Ink 7">
                <a:extLst>
                  <a:ext uri="{FF2B5EF4-FFF2-40B4-BE49-F238E27FC236}">
                    <a16:creationId xmlns:a16="http://schemas.microsoft.com/office/drawing/2014/main" id="{78CD3B61-EC0B-D64E-4125-8A2CC14C601E}"/>
                  </a:ext>
                </a:extLst>
              </p14:cNvPr>
              <p14:cNvContentPartPr/>
              <p14:nvPr/>
            </p14:nvContentPartPr>
            <p14:xfrm>
              <a:off x="6705120" y="4304430"/>
              <a:ext cx="658440" cy="637560"/>
            </p14:xfrm>
          </p:contentPart>
        </mc:Choice>
        <mc:Fallback>
          <p:pic>
            <p:nvPicPr>
              <p:cNvPr id="8" name="Ink 7">
                <a:extLst>
                  <a:ext uri="{FF2B5EF4-FFF2-40B4-BE49-F238E27FC236}">
                    <a16:creationId xmlns:a16="http://schemas.microsoft.com/office/drawing/2014/main" id="{78CD3B61-EC0B-D64E-4125-8A2CC14C601E}"/>
                  </a:ext>
                </a:extLst>
              </p:cNvPr>
              <p:cNvPicPr/>
              <p:nvPr/>
            </p:nvPicPr>
            <p:blipFill>
              <a:blip r:embed="rId4"/>
              <a:stretch>
                <a:fillRect/>
              </a:stretch>
            </p:blipFill>
            <p:spPr>
              <a:xfrm>
                <a:off x="6696120" y="4295790"/>
                <a:ext cx="676080" cy="6552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5">
            <p14:nvContentPartPr>
              <p14:cNvPr id="9" name="Ink 8">
                <a:extLst>
                  <a:ext uri="{FF2B5EF4-FFF2-40B4-BE49-F238E27FC236}">
                    <a16:creationId xmlns:a16="http://schemas.microsoft.com/office/drawing/2014/main" id="{021B9762-526A-74B9-9A8F-6B54511B03A5}"/>
                  </a:ext>
                </a:extLst>
              </p14:cNvPr>
              <p14:cNvContentPartPr/>
              <p14:nvPr/>
            </p14:nvContentPartPr>
            <p14:xfrm>
              <a:off x="8428800" y="3009150"/>
              <a:ext cx="668160" cy="506160"/>
            </p14:xfrm>
          </p:contentPart>
        </mc:Choice>
        <mc:Fallback>
          <p:pic>
            <p:nvPicPr>
              <p:cNvPr id="9" name="Ink 8">
                <a:extLst>
                  <a:ext uri="{FF2B5EF4-FFF2-40B4-BE49-F238E27FC236}">
                    <a16:creationId xmlns:a16="http://schemas.microsoft.com/office/drawing/2014/main" id="{021B9762-526A-74B9-9A8F-6B54511B03A5}"/>
                  </a:ext>
                </a:extLst>
              </p:cNvPr>
              <p:cNvPicPr/>
              <p:nvPr/>
            </p:nvPicPr>
            <p:blipFill>
              <a:blip r:embed="rId6"/>
              <a:stretch>
                <a:fillRect/>
              </a:stretch>
            </p:blipFill>
            <p:spPr>
              <a:xfrm>
                <a:off x="8420160" y="3000510"/>
                <a:ext cx="685800" cy="523800"/>
              </a:xfrm>
              <a:prstGeom prst="rect">
                <a:avLst/>
              </a:prstGeom>
            </p:spPr>
          </p:pic>
        </mc:Fallback>
      </mc:AlternateContent>
    </p:spTree>
    <p:extLst>
      <p:ext uri="{BB962C8B-B14F-4D97-AF65-F5344CB8AC3E}">
        <p14:creationId xmlns:p14="http://schemas.microsoft.com/office/powerpoint/2010/main" val="3410451284"/>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D18DE2-65CD-E626-6BD5-9288CA996454}"/>
              </a:ext>
            </a:extLst>
          </p:cNvPr>
          <p:cNvSpPr>
            <a:spLocks noGrp="1"/>
          </p:cNvSpPr>
          <p:nvPr>
            <p:ph type="title"/>
          </p:nvPr>
        </p:nvSpPr>
        <p:spPr>
          <a:xfrm>
            <a:off x="581192" y="800930"/>
            <a:ext cx="3568661" cy="2256390"/>
          </a:xfrm>
        </p:spPr>
        <p:txBody>
          <a:bodyPr anchor="ctr">
            <a:normAutofit/>
          </a:bodyPr>
          <a:lstStyle/>
          <a:p>
            <a:r>
              <a:rPr lang="en-US" dirty="0"/>
              <a:t>Resolution time by Country</a:t>
            </a:r>
            <a:endParaRPr lang="en-CA" dirty="0"/>
          </a:p>
        </p:txBody>
      </p:sp>
      <p:sp>
        <p:nvSpPr>
          <p:cNvPr id="14" name="Rectangle 13">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6" name="Rectangle 15">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8" name="Rectangle 17">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 name="Content Placeholder 2">
            <a:extLst>
              <a:ext uri="{FF2B5EF4-FFF2-40B4-BE49-F238E27FC236}">
                <a16:creationId xmlns:a16="http://schemas.microsoft.com/office/drawing/2014/main" id="{CD2482B8-F967-4BFA-1108-2BDD8FF28206}"/>
              </a:ext>
            </a:extLst>
          </p:cNvPr>
          <p:cNvSpPr>
            <a:spLocks noGrp="1"/>
          </p:cNvSpPr>
          <p:nvPr>
            <p:ph idx="1"/>
          </p:nvPr>
        </p:nvSpPr>
        <p:spPr>
          <a:xfrm>
            <a:off x="4561870" y="800930"/>
            <a:ext cx="7183597" cy="2256390"/>
          </a:xfrm>
        </p:spPr>
        <p:txBody>
          <a:bodyPr>
            <a:normAutofit/>
          </a:bodyPr>
          <a:lstStyle/>
          <a:p>
            <a:pPr>
              <a:buClr>
                <a:srgbClr val="61A995"/>
              </a:buClr>
            </a:pPr>
            <a:r>
              <a:rPr lang="en-US" dirty="0"/>
              <a:t>Japan seems to have attacks that last a bit longer compared to others. </a:t>
            </a:r>
          </a:p>
          <a:p>
            <a:pPr>
              <a:buClr>
                <a:srgbClr val="61A995"/>
              </a:buClr>
            </a:pPr>
            <a:r>
              <a:rPr lang="en-US" dirty="0"/>
              <a:t>Russia and China seem to have fewer lengthy incidents.</a:t>
            </a:r>
            <a:endParaRPr lang="en-CA" dirty="0"/>
          </a:p>
        </p:txBody>
      </p:sp>
      <p:pic>
        <p:nvPicPr>
          <p:cNvPr id="5" name="Picture 4">
            <a:extLst>
              <a:ext uri="{FF2B5EF4-FFF2-40B4-BE49-F238E27FC236}">
                <a16:creationId xmlns:a16="http://schemas.microsoft.com/office/drawing/2014/main" id="{4C8E9DBB-49F7-156C-0B04-EE5F504FB0CD}"/>
              </a:ext>
            </a:extLst>
          </p:cNvPr>
          <p:cNvPicPr>
            <a:picLocks noChangeAspect="1"/>
          </p:cNvPicPr>
          <p:nvPr/>
        </p:nvPicPr>
        <p:blipFill>
          <a:blip r:embed="rId2"/>
          <a:stretch>
            <a:fillRect/>
          </a:stretch>
        </p:blipFill>
        <p:spPr>
          <a:xfrm>
            <a:off x="982492" y="3209527"/>
            <a:ext cx="9776299" cy="3592787"/>
          </a:xfrm>
          <a:prstGeom prst="rect">
            <a:avLst/>
          </a:prstGeom>
        </p:spPr>
      </p:pic>
    </p:spTree>
    <p:extLst>
      <p:ext uri="{BB962C8B-B14F-4D97-AF65-F5344CB8AC3E}">
        <p14:creationId xmlns:p14="http://schemas.microsoft.com/office/powerpoint/2010/main" val="1169050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C974C3-164A-200C-2B4C-4473B5391EC6}"/>
              </a:ext>
            </a:extLst>
          </p:cNvPr>
          <p:cNvSpPr>
            <a:spLocks noGrp="1"/>
          </p:cNvSpPr>
          <p:nvPr>
            <p:ph type="title"/>
          </p:nvPr>
        </p:nvSpPr>
        <p:spPr>
          <a:xfrm>
            <a:off x="581192" y="800930"/>
            <a:ext cx="3568661" cy="1837545"/>
          </a:xfrm>
        </p:spPr>
        <p:txBody>
          <a:bodyPr anchor="ctr">
            <a:normAutofit/>
          </a:bodyPr>
          <a:lstStyle/>
          <a:p>
            <a:r>
              <a:rPr lang="en-US" dirty="0"/>
              <a:t>Resolution Time by Attack Type</a:t>
            </a:r>
            <a:endParaRPr lang="en-CA" dirty="0"/>
          </a:p>
        </p:txBody>
      </p:sp>
      <p:sp>
        <p:nvSpPr>
          <p:cNvPr id="12" name="Rectangle 11">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6" name="Rectangle 15">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 name="Content Placeholder 2">
            <a:extLst>
              <a:ext uri="{FF2B5EF4-FFF2-40B4-BE49-F238E27FC236}">
                <a16:creationId xmlns:a16="http://schemas.microsoft.com/office/drawing/2014/main" id="{2069694B-7AE6-5405-EB76-D79FA2B88BBE}"/>
              </a:ext>
            </a:extLst>
          </p:cNvPr>
          <p:cNvSpPr>
            <a:spLocks noGrp="1"/>
          </p:cNvSpPr>
          <p:nvPr>
            <p:ph idx="1"/>
          </p:nvPr>
        </p:nvSpPr>
        <p:spPr>
          <a:xfrm>
            <a:off x="4561870" y="800930"/>
            <a:ext cx="7183597" cy="1837545"/>
          </a:xfrm>
        </p:spPr>
        <p:txBody>
          <a:bodyPr>
            <a:normAutofit/>
          </a:bodyPr>
          <a:lstStyle/>
          <a:p>
            <a:r>
              <a:rPr lang="en-US" dirty="0"/>
              <a:t>Ransomware and SQL Injection style attacks seem to be the most time consuming to resolve.</a:t>
            </a:r>
            <a:endParaRPr lang="en-CA" dirty="0"/>
          </a:p>
        </p:txBody>
      </p:sp>
      <p:pic>
        <p:nvPicPr>
          <p:cNvPr id="5" name="Picture 4">
            <a:extLst>
              <a:ext uri="{FF2B5EF4-FFF2-40B4-BE49-F238E27FC236}">
                <a16:creationId xmlns:a16="http://schemas.microsoft.com/office/drawing/2014/main" id="{55AE2B3A-2CEA-C475-962C-E85103532DE1}"/>
              </a:ext>
            </a:extLst>
          </p:cNvPr>
          <p:cNvPicPr>
            <a:picLocks noChangeAspect="1"/>
          </p:cNvPicPr>
          <p:nvPr/>
        </p:nvPicPr>
        <p:blipFill>
          <a:blip r:embed="rId2"/>
          <a:stretch>
            <a:fillRect/>
          </a:stretch>
        </p:blipFill>
        <p:spPr>
          <a:xfrm>
            <a:off x="872274" y="3118049"/>
            <a:ext cx="10246441" cy="3739951"/>
          </a:xfrm>
          <a:prstGeom prst="rect">
            <a:avLst/>
          </a:prstGeom>
        </p:spPr>
      </p:pic>
    </p:spTree>
    <p:extLst>
      <p:ext uri="{BB962C8B-B14F-4D97-AF65-F5344CB8AC3E}">
        <p14:creationId xmlns:p14="http://schemas.microsoft.com/office/powerpoint/2010/main" val="1219257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3FBC22-0DEF-002F-81D9-90E98C606A27}"/>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D9B94A-6E07-7401-ECFD-61181B11B8B1}"/>
              </a:ext>
            </a:extLst>
          </p:cNvPr>
          <p:cNvSpPr>
            <a:spLocks noGrp="1"/>
          </p:cNvSpPr>
          <p:nvPr>
            <p:ph type="title"/>
          </p:nvPr>
        </p:nvSpPr>
        <p:spPr>
          <a:xfrm>
            <a:off x="581192" y="800930"/>
            <a:ext cx="3703320" cy="2256390"/>
          </a:xfrm>
        </p:spPr>
        <p:txBody>
          <a:bodyPr anchor="ctr">
            <a:normAutofit/>
          </a:bodyPr>
          <a:lstStyle/>
          <a:p>
            <a:r>
              <a:rPr lang="en-US" dirty="0"/>
              <a:t>Resolution Time by Target Industry</a:t>
            </a:r>
            <a:endParaRPr lang="en-CA" dirty="0"/>
          </a:p>
        </p:txBody>
      </p:sp>
      <p:sp>
        <p:nvSpPr>
          <p:cNvPr id="23" name="Rectangle 22">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5" name="Rectangle 24">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7" name="Rectangle 26">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 name="Content Placeholder 2">
            <a:extLst>
              <a:ext uri="{FF2B5EF4-FFF2-40B4-BE49-F238E27FC236}">
                <a16:creationId xmlns:a16="http://schemas.microsoft.com/office/drawing/2014/main" id="{249F9F38-24F7-DC36-6AC2-A44B05E27442}"/>
              </a:ext>
            </a:extLst>
          </p:cNvPr>
          <p:cNvSpPr>
            <a:spLocks noGrp="1"/>
          </p:cNvSpPr>
          <p:nvPr>
            <p:ph idx="1"/>
          </p:nvPr>
        </p:nvSpPr>
        <p:spPr>
          <a:xfrm>
            <a:off x="4561870" y="800930"/>
            <a:ext cx="7183597" cy="2256390"/>
          </a:xfrm>
        </p:spPr>
        <p:txBody>
          <a:bodyPr>
            <a:normAutofit/>
          </a:bodyPr>
          <a:lstStyle/>
          <a:p>
            <a:r>
              <a:rPr lang="en-US" dirty="0"/>
              <a:t>Government and IT seem to have faster recovery times than some other industries, while also having some of the longer recovery times.</a:t>
            </a:r>
            <a:endParaRPr lang="en-CA" dirty="0"/>
          </a:p>
        </p:txBody>
      </p:sp>
      <p:pic>
        <p:nvPicPr>
          <p:cNvPr id="6" name="Picture 5">
            <a:extLst>
              <a:ext uri="{FF2B5EF4-FFF2-40B4-BE49-F238E27FC236}">
                <a16:creationId xmlns:a16="http://schemas.microsoft.com/office/drawing/2014/main" id="{EA07D26E-6B9C-7AFA-9657-B55945662863}"/>
              </a:ext>
            </a:extLst>
          </p:cNvPr>
          <p:cNvPicPr>
            <a:picLocks noChangeAspect="1"/>
          </p:cNvPicPr>
          <p:nvPr/>
        </p:nvPicPr>
        <p:blipFill>
          <a:blip r:embed="rId2"/>
          <a:stretch>
            <a:fillRect/>
          </a:stretch>
        </p:blipFill>
        <p:spPr>
          <a:xfrm>
            <a:off x="826142" y="3115052"/>
            <a:ext cx="10166114" cy="3685217"/>
          </a:xfrm>
          <a:prstGeom prst="rect">
            <a:avLst/>
          </a:prstGeom>
        </p:spPr>
      </p:pic>
    </p:spTree>
    <p:extLst>
      <p:ext uri="{BB962C8B-B14F-4D97-AF65-F5344CB8AC3E}">
        <p14:creationId xmlns:p14="http://schemas.microsoft.com/office/powerpoint/2010/main" val="3411017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66DACF-90F1-E0CE-304E-38F693FC947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981CA78-4B0F-9C0D-97E1-A3A2CFC6F5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066119-D567-10D4-0F9B-A5D689059D2F}"/>
              </a:ext>
            </a:extLst>
          </p:cNvPr>
          <p:cNvSpPr>
            <a:spLocks noGrp="1"/>
          </p:cNvSpPr>
          <p:nvPr>
            <p:ph type="title"/>
          </p:nvPr>
        </p:nvSpPr>
        <p:spPr>
          <a:xfrm>
            <a:off x="581192" y="800930"/>
            <a:ext cx="3568661" cy="1837545"/>
          </a:xfrm>
        </p:spPr>
        <p:txBody>
          <a:bodyPr anchor="ctr">
            <a:normAutofit/>
          </a:bodyPr>
          <a:lstStyle/>
          <a:p>
            <a:r>
              <a:rPr lang="en-US" dirty="0"/>
              <a:t>Resolution Time by Attack Source</a:t>
            </a:r>
            <a:endParaRPr lang="en-CA" dirty="0"/>
          </a:p>
        </p:txBody>
      </p:sp>
      <p:sp>
        <p:nvSpPr>
          <p:cNvPr id="12" name="Rectangle 11">
            <a:extLst>
              <a:ext uri="{FF2B5EF4-FFF2-40B4-BE49-F238E27FC236}">
                <a16:creationId xmlns:a16="http://schemas.microsoft.com/office/drawing/2014/main" id="{BAAB49F3-26D3-A8A3-0886-7FDDD2B9C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EE2E2C6D-66BC-A34D-AF1D-355F0C35E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6" name="Rectangle 15">
            <a:extLst>
              <a:ext uri="{FF2B5EF4-FFF2-40B4-BE49-F238E27FC236}">
                <a16:creationId xmlns:a16="http://schemas.microsoft.com/office/drawing/2014/main" id="{708217A2-2626-67A7-FAAC-1DAF2A914A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 name="Content Placeholder 2">
            <a:extLst>
              <a:ext uri="{FF2B5EF4-FFF2-40B4-BE49-F238E27FC236}">
                <a16:creationId xmlns:a16="http://schemas.microsoft.com/office/drawing/2014/main" id="{E9F248D3-68EF-9190-A285-64BE1C9165F1}"/>
              </a:ext>
            </a:extLst>
          </p:cNvPr>
          <p:cNvSpPr>
            <a:spLocks noGrp="1"/>
          </p:cNvSpPr>
          <p:nvPr>
            <p:ph idx="1"/>
          </p:nvPr>
        </p:nvSpPr>
        <p:spPr>
          <a:xfrm>
            <a:off x="4561870" y="800930"/>
            <a:ext cx="7183597" cy="1837545"/>
          </a:xfrm>
        </p:spPr>
        <p:txBody>
          <a:bodyPr>
            <a:normAutofit/>
          </a:bodyPr>
          <a:lstStyle/>
          <a:p>
            <a:r>
              <a:rPr lang="en-US" dirty="0"/>
              <a:t>Hacker Group and Nation State attacks appear to have comparatively longer resolution times.</a:t>
            </a:r>
            <a:endParaRPr lang="en-CA" dirty="0"/>
          </a:p>
        </p:txBody>
      </p:sp>
      <p:pic>
        <p:nvPicPr>
          <p:cNvPr id="6" name="Picture 5">
            <a:extLst>
              <a:ext uri="{FF2B5EF4-FFF2-40B4-BE49-F238E27FC236}">
                <a16:creationId xmlns:a16="http://schemas.microsoft.com/office/drawing/2014/main" id="{A4428266-6DF8-D5A2-390A-7409E862E929}"/>
              </a:ext>
            </a:extLst>
          </p:cNvPr>
          <p:cNvPicPr>
            <a:picLocks noChangeAspect="1"/>
          </p:cNvPicPr>
          <p:nvPr/>
        </p:nvPicPr>
        <p:blipFill>
          <a:blip r:embed="rId2"/>
          <a:stretch>
            <a:fillRect/>
          </a:stretch>
        </p:blipFill>
        <p:spPr>
          <a:xfrm>
            <a:off x="196692" y="2887208"/>
            <a:ext cx="11793596" cy="3951422"/>
          </a:xfrm>
          <a:prstGeom prst="rect">
            <a:avLst/>
          </a:prstGeom>
        </p:spPr>
      </p:pic>
    </p:spTree>
    <p:extLst>
      <p:ext uri="{BB962C8B-B14F-4D97-AF65-F5344CB8AC3E}">
        <p14:creationId xmlns:p14="http://schemas.microsoft.com/office/powerpoint/2010/main" val="1893168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51A103-3BD5-F1A4-CA8B-2F101AA20477}"/>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B2D314-85FD-6B67-8D0F-37B5E2AC442D}"/>
              </a:ext>
            </a:extLst>
          </p:cNvPr>
          <p:cNvSpPr>
            <a:spLocks noGrp="1"/>
          </p:cNvSpPr>
          <p:nvPr>
            <p:ph type="title"/>
          </p:nvPr>
        </p:nvSpPr>
        <p:spPr>
          <a:xfrm>
            <a:off x="581192" y="800930"/>
            <a:ext cx="3568661" cy="2256390"/>
          </a:xfrm>
        </p:spPr>
        <p:txBody>
          <a:bodyPr anchor="ctr">
            <a:normAutofit/>
          </a:bodyPr>
          <a:lstStyle/>
          <a:p>
            <a:r>
              <a:rPr lang="en-US" dirty="0"/>
              <a:t>Resolution Time by Vulnerability Type</a:t>
            </a:r>
            <a:endParaRPr lang="en-CA" dirty="0"/>
          </a:p>
        </p:txBody>
      </p:sp>
      <p:sp>
        <p:nvSpPr>
          <p:cNvPr id="23" name="Rectangle 22">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5" name="Rectangle 24">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7" name="Rectangle 26">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 name="Content Placeholder 2">
            <a:extLst>
              <a:ext uri="{FF2B5EF4-FFF2-40B4-BE49-F238E27FC236}">
                <a16:creationId xmlns:a16="http://schemas.microsoft.com/office/drawing/2014/main" id="{A015500A-ED21-8901-1930-68447B13EBA7}"/>
              </a:ext>
            </a:extLst>
          </p:cNvPr>
          <p:cNvSpPr>
            <a:spLocks noGrp="1"/>
          </p:cNvSpPr>
          <p:nvPr>
            <p:ph idx="1"/>
          </p:nvPr>
        </p:nvSpPr>
        <p:spPr>
          <a:xfrm>
            <a:off x="4561870" y="800930"/>
            <a:ext cx="7183597" cy="2256390"/>
          </a:xfrm>
        </p:spPr>
        <p:txBody>
          <a:bodyPr>
            <a:normAutofit/>
          </a:bodyPr>
          <a:lstStyle/>
          <a:p>
            <a:r>
              <a:rPr lang="en-US" dirty="0"/>
              <a:t>Zero days take longer to resolve than something like weak passwords.</a:t>
            </a:r>
            <a:endParaRPr lang="en-CA" dirty="0"/>
          </a:p>
        </p:txBody>
      </p:sp>
      <p:pic>
        <p:nvPicPr>
          <p:cNvPr id="6" name="Picture 5">
            <a:extLst>
              <a:ext uri="{FF2B5EF4-FFF2-40B4-BE49-F238E27FC236}">
                <a16:creationId xmlns:a16="http://schemas.microsoft.com/office/drawing/2014/main" id="{821EC2F1-70E2-1584-A4BA-62C8792CC893}"/>
              </a:ext>
            </a:extLst>
          </p:cNvPr>
          <p:cNvPicPr>
            <a:picLocks noChangeAspect="1"/>
          </p:cNvPicPr>
          <p:nvPr/>
        </p:nvPicPr>
        <p:blipFill>
          <a:blip r:embed="rId2"/>
          <a:stretch>
            <a:fillRect/>
          </a:stretch>
        </p:blipFill>
        <p:spPr>
          <a:xfrm>
            <a:off x="446533" y="3057320"/>
            <a:ext cx="10742566" cy="3840467"/>
          </a:xfrm>
          <a:prstGeom prst="rect">
            <a:avLst/>
          </a:prstGeom>
        </p:spPr>
      </p:pic>
    </p:spTree>
    <p:extLst>
      <p:ext uri="{BB962C8B-B14F-4D97-AF65-F5344CB8AC3E}">
        <p14:creationId xmlns:p14="http://schemas.microsoft.com/office/powerpoint/2010/main" val="1013989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241355-6D65-771A-4DB2-D675FED6F61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E3275D8-1DCB-0AC5-FEB2-B801DB6F8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A7E751-90FC-D91D-6555-4041E74C3AB4}"/>
              </a:ext>
            </a:extLst>
          </p:cNvPr>
          <p:cNvSpPr>
            <a:spLocks noGrp="1"/>
          </p:cNvSpPr>
          <p:nvPr>
            <p:ph type="title"/>
          </p:nvPr>
        </p:nvSpPr>
        <p:spPr>
          <a:xfrm>
            <a:off x="581192" y="800930"/>
            <a:ext cx="3568661" cy="1837545"/>
          </a:xfrm>
        </p:spPr>
        <p:txBody>
          <a:bodyPr anchor="ctr">
            <a:normAutofit/>
          </a:bodyPr>
          <a:lstStyle/>
          <a:p>
            <a:r>
              <a:rPr lang="en-US" dirty="0"/>
              <a:t>Resolution Time by Defense Type</a:t>
            </a:r>
            <a:endParaRPr lang="en-CA" dirty="0"/>
          </a:p>
        </p:txBody>
      </p:sp>
      <p:sp>
        <p:nvSpPr>
          <p:cNvPr id="12" name="Rectangle 11">
            <a:extLst>
              <a:ext uri="{FF2B5EF4-FFF2-40B4-BE49-F238E27FC236}">
                <a16:creationId xmlns:a16="http://schemas.microsoft.com/office/drawing/2014/main" id="{4B6F0ECA-52D9-85C7-6930-8285F7DBE0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868F2285-1E90-9BC3-D351-0220CD702D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6" name="Rectangle 15">
            <a:extLst>
              <a:ext uri="{FF2B5EF4-FFF2-40B4-BE49-F238E27FC236}">
                <a16:creationId xmlns:a16="http://schemas.microsoft.com/office/drawing/2014/main" id="{442B397E-AFE5-5532-5AAF-07CEB0215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 name="Content Placeholder 2">
            <a:extLst>
              <a:ext uri="{FF2B5EF4-FFF2-40B4-BE49-F238E27FC236}">
                <a16:creationId xmlns:a16="http://schemas.microsoft.com/office/drawing/2014/main" id="{E322A8A1-9E05-93E6-E9C2-29ACB4691A90}"/>
              </a:ext>
            </a:extLst>
          </p:cNvPr>
          <p:cNvSpPr>
            <a:spLocks noGrp="1"/>
          </p:cNvSpPr>
          <p:nvPr>
            <p:ph idx="1"/>
          </p:nvPr>
        </p:nvSpPr>
        <p:spPr>
          <a:xfrm>
            <a:off x="4561870" y="800930"/>
            <a:ext cx="7183597" cy="1837545"/>
          </a:xfrm>
        </p:spPr>
        <p:txBody>
          <a:bodyPr>
            <a:normAutofit/>
          </a:bodyPr>
          <a:lstStyle/>
          <a:p>
            <a:r>
              <a:rPr lang="en-US" dirty="0"/>
              <a:t>AI-Detection and Encryption seem the most promising defense types here.</a:t>
            </a:r>
            <a:endParaRPr lang="en-CA" dirty="0"/>
          </a:p>
        </p:txBody>
      </p:sp>
      <p:pic>
        <p:nvPicPr>
          <p:cNvPr id="6" name="Picture 5">
            <a:extLst>
              <a:ext uri="{FF2B5EF4-FFF2-40B4-BE49-F238E27FC236}">
                <a16:creationId xmlns:a16="http://schemas.microsoft.com/office/drawing/2014/main" id="{F9D1F023-FDDA-7258-0479-3101EAEBAEBA}"/>
              </a:ext>
            </a:extLst>
          </p:cNvPr>
          <p:cNvPicPr>
            <a:picLocks noChangeAspect="1"/>
          </p:cNvPicPr>
          <p:nvPr/>
        </p:nvPicPr>
        <p:blipFill>
          <a:blip r:embed="rId2"/>
          <a:stretch>
            <a:fillRect/>
          </a:stretch>
        </p:blipFill>
        <p:spPr>
          <a:xfrm>
            <a:off x="182402" y="2471746"/>
            <a:ext cx="11822175" cy="4229690"/>
          </a:xfrm>
          <a:prstGeom prst="rect">
            <a:avLst/>
          </a:prstGeom>
        </p:spPr>
      </p:pic>
    </p:spTree>
    <p:extLst>
      <p:ext uri="{BB962C8B-B14F-4D97-AF65-F5344CB8AC3E}">
        <p14:creationId xmlns:p14="http://schemas.microsoft.com/office/powerpoint/2010/main" val="3590542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1C1F8-B5C8-39B0-E9DF-9F39D5D61BF1}"/>
              </a:ext>
            </a:extLst>
          </p:cNvPr>
          <p:cNvSpPr>
            <a:spLocks noGrp="1"/>
          </p:cNvSpPr>
          <p:nvPr>
            <p:ph type="title"/>
          </p:nvPr>
        </p:nvSpPr>
        <p:spPr/>
        <p:txBody>
          <a:bodyPr/>
          <a:lstStyle/>
          <a:p>
            <a:r>
              <a:rPr lang="en-US" dirty="0"/>
              <a:t>Target Variable and Why</a:t>
            </a:r>
            <a:endParaRPr lang="en-CA" dirty="0"/>
          </a:p>
        </p:txBody>
      </p:sp>
      <p:sp>
        <p:nvSpPr>
          <p:cNvPr id="3" name="Content Placeholder 2">
            <a:extLst>
              <a:ext uri="{FF2B5EF4-FFF2-40B4-BE49-F238E27FC236}">
                <a16:creationId xmlns:a16="http://schemas.microsoft.com/office/drawing/2014/main" id="{0B0D8FDA-D5AE-965C-AAAC-0E5B901322F6}"/>
              </a:ext>
            </a:extLst>
          </p:cNvPr>
          <p:cNvSpPr>
            <a:spLocks noGrp="1"/>
          </p:cNvSpPr>
          <p:nvPr>
            <p:ph idx="1"/>
          </p:nvPr>
        </p:nvSpPr>
        <p:spPr/>
        <p:txBody>
          <a:bodyPr/>
          <a:lstStyle/>
          <a:p>
            <a:r>
              <a:rPr lang="en-US" dirty="0"/>
              <a:t>“Incident Resolution Time (In Hours)” is the target variable for a few reasons.</a:t>
            </a:r>
          </a:p>
          <a:p>
            <a:pPr lvl="1"/>
            <a:r>
              <a:rPr lang="en-US" dirty="0"/>
              <a:t>Financial Loss doesn’t make sense as a target when government entities, education and retail are all involved together. The numbers would vary too much.</a:t>
            </a:r>
          </a:p>
          <a:p>
            <a:pPr lvl="1"/>
            <a:r>
              <a:rPr lang="en-US" dirty="0"/>
              <a:t>Users affected doesn’t make sense for much the same reason. The website of a government agency being hit is going to impact less people, but may have more drastic consequences than a DDOS attack on Twitter.</a:t>
            </a:r>
          </a:p>
          <a:p>
            <a:pPr lvl="1"/>
            <a:r>
              <a:rPr lang="en-US" dirty="0"/>
              <a:t>None of the categorical variables stand out enough or make sense as a target.</a:t>
            </a:r>
            <a:endParaRPr lang="en-CA" dirty="0"/>
          </a:p>
          <a:p>
            <a:pPr lvl="1"/>
            <a:r>
              <a:rPr lang="en-US" dirty="0"/>
              <a:t>Time to resolve a crisis as a measure works across industries, and the number of users impacted doesn’t matter so much. Resources the industry has may skew it, but none of the other options seemed right.</a:t>
            </a:r>
          </a:p>
        </p:txBody>
      </p:sp>
    </p:spTree>
    <p:extLst>
      <p:ext uri="{BB962C8B-B14F-4D97-AF65-F5344CB8AC3E}">
        <p14:creationId xmlns:p14="http://schemas.microsoft.com/office/powerpoint/2010/main" val="3956567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751CB9-7B25-4EB8-9A6F-82F822549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1317383-CF3B-4B02-9512-BECBEF636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B1D4C7A0-6DF2-4F2D-A45D-F11158297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6" name="Rectangle 15">
            <a:extLst>
              <a:ext uri="{FF2B5EF4-FFF2-40B4-BE49-F238E27FC236}">
                <a16:creationId xmlns:a16="http://schemas.microsoft.com/office/drawing/2014/main" id="{DBF3943D-BCB6-4B31-809D-A00568648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8" name="Rectangle 17">
            <a:extLst>
              <a:ext uri="{FF2B5EF4-FFF2-40B4-BE49-F238E27FC236}">
                <a16:creationId xmlns:a16="http://schemas.microsoft.com/office/drawing/2014/main" id="{39373A6F-2E1F-4613-8E1D-D68057D29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01200"/>
            <a:ext cx="3707477" cy="562497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1">
            <a:extLst>
              <a:ext uri="{FF2B5EF4-FFF2-40B4-BE49-F238E27FC236}">
                <a16:creationId xmlns:a16="http://schemas.microsoft.com/office/drawing/2014/main" id="{C06C78E5-8A7A-BB6F-EFAA-9A2E64938DDF}"/>
              </a:ext>
            </a:extLst>
          </p:cNvPr>
          <p:cNvSpPr>
            <a:spLocks noGrp="1"/>
          </p:cNvSpPr>
          <p:nvPr>
            <p:ph type="title"/>
          </p:nvPr>
        </p:nvSpPr>
        <p:spPr>
          <a:xfrm>
            <a:off x="601255" y="702155"/>
            <a:ext cx="3409783" cy="1300365"/>
          </a:xfrm>
        </p:spPr>
        <p:txBody>
          <a:bodyPr>
            <a:normAutofit/>
          </a:bodyPr>
          <a:lstStyle/>
          <a:p>
            <a:pPr>
              <a:lnSpc>
                <a:spcPct val="90000"/>
              </a:lnSpc>
            </a:pPr>
            <a:r>
              <a:rPr lang="en-US">
                <a:solidFill>
                  <a:srgbClr val="FFFFFF"/>
                </a:solidFill>
              </a:rPr>
              <a:t>Principle Component Analysis</a:t>
            </a:r>
            <a:endParaRPr lang="en-CA">
              <a:solidFill>
                <a:srgbClr val="FFFFFF"/>
              </a:solidFill>
            </a:endParaRPr>
          </a:p>
        </p:txBody>
      </p:sp>
      <p:sp>
        <p:nvSpPr>
          <p:cNvPr id="3" name="Content Placeholder 2">
            <a:extLst>
              <a:ext uri="{FF2B5EF4-FFF2-40B4-BE49-F238E27FC236}">
                <a16:creationId xmlns:a16="http://schemas.microsoft.com/office/drawing/2014/main" id="{232E2786-BD14-D10D-A772-C4C958EB6367}"/>
              </a:ext>
            </a:extLst>
          </p:cNvPr>
          <p:cNvSpPr>
            <a:spLocks noGrp="1"/>
          </p:cNvSpPr>
          <p:nvPr>
            <p:ph idx="1"/>
          </p:nvPr>
        </p:nvSpPr>
        <p:spPr>
          <a:xfrm>
            <a:off x="601255" y="2177142"/>
            <a:ext cx="3409782" cy="3823607"/>
          </a:xfrm>
        </p:spPr>
        <p:txBody>
          <a:bodyPr>
            <a:normAutofit/>
          </a:bodyPr>
          <a:lstStyle/>
          <a:p>
            <a:r>
              <a:rPr lang="en-US" dirty="0">
                <a:solidFill>
                  <a:srgbClr val="FFFFFF"/>
                </a:solidFill>
              </a:rPr>
              <a:t>After converting all the categorical categories into binary variables there were 42 variables total.</a:t>
            </a:r>
          </a:p>
          <a:p>
            <a:r>
              <a:rPr lang="en-US" dirty="0">
                <a:solidFill>
                  <a:srgbClr val="FFFFFF"/>
                </a:solidFill>
              </a:rPr>
              <a:t>PCA caps out at close to the same number. </a:t>
            </a:r>
            <a:endParaRPr lang="en-CA" dirty="0">
              <a:solidFill>
                <a:srgbClr val="FFFFFF"/>
              </a:solidFill>
            </a:endParaRPr>
          </a:p>
        </p:txBody>
      </p:sp>
      <p:pic>
        <p:nvPicPr>
          <p:cNvPr id="5" name="Picture 4">
            <a:extLst>
              <a:ext uri="{FF2B5EF4-FFF2-40B4-BE49-F238E27FC236}">
                <a16:creationId xmlns:a16="http://schemas.microsoft.com/office/drawing/2014/main" id="{0A454C43-BA3F-3909-9D3C-298AE524F7C2}"/>
              </a:ext>
            </a:extLst>
          </p:cNvPr>
          <p:cNvPicPr>
            <a:picLocks noChangeAspect="1"/>
          </p:cNvPicPr>
          <p:nvPr/>
        </p:nvPicPr>
        <p:blipFill>
          <a:blip r:embed="rId2"/>
          <a:stretch>
            <a:fillRect/>
          </a:stretch>
        </p:blipFill>
        <p:spPr>
          <a:xfrm>
            <a:off x="5466650" y="936141"/>
            <a:ext cx="5082665" cy="4968305"/>
          </a:xfrm>
          <a:prstGeom prst="rect">
            <a:avLst/>
          </a:prstGeom>
        </p:spPr>
      </p:pic>
    </p:spTree>
    <p:extLst>
      <p:ext uri="{BB962C8B-B14F-4D97-AF65-F5344CB8AC3E}">
        <p14:creationId xmlns:p14="http://schemas.microsoft.com/office/powerpoint/2010/main" val="1398893146"/>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0401440-1DC9-4C9E-A3BA-4DECEEB46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2441C11-F742-AC9A-A039-820BA16B3618}"/>
              </a:ext>
            </a:extLst>
          </p:cNvPr>
          <p:cNvPicPr>
            <a:picLocks noChangeAspect="1"/>
          </p:cNvPicPr>
          <p:nvPr/>
        </p:nvPicPr>
        <p:blipFill>
          <a:blip r:embed="rId2"/>
          <a:stretch>
            <a:fillRect/>
          </a:stretch>
        </p:blipFill>
        <p:spPr>
          <a:xfrm>
            <a:off x="447234" y="674858"/>
            <a:ext cx="11301984" cy="2995025"/>
          </a:xfrm>
          <a:prstGeom prst="rect">
            <a:avLst/>
          </a:prstGeom>
        </p:spPr>
      </p:pic>
      <p:sp>
        <p:nvSpPr>
          <p:cNvPr id="29" name="Rectangle 28">
            <a:extLst>
              <a:ext uri="{FF2B5EF4-FFF2-40B4-BE49-F238E27FC236}">
                <a16:creationId xmlns:a16="http://schemas.microsoft.com/office/drawing/2014/main" id="{36B822CC-7DA9-4417-AA94-64CEB676F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0" name="Rectangle 29">
            <a:extLst>
              <a:ext uri="{FF2B5EF4-FFF2-40B4-BE49-F238E27FC236}">
                <a16:creationId xmlns:a16="http://schemas.microsoft.com/office/drawing/2014/main" id="{AFA01E88-71CC-4FF3-9E81-51E0C32B4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59623"/>
            <a:ext cx="11303626" cy="2051143"/>
          </a:xfrm>
          <a:prstGeom prst="rect">
            <a:avLst/>
          </a:prstGeom>
          <a:solidFill>
            <a:srgbClr val="465359"/>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1">
            <a:extLst>
              <a:ext uri="{FF2B5EF4-FFF2-40B4-BE49-F238E27FC236}">
                <a16:creationId xmlns:a16="http://schemas.microsoft.com/office/drawing/2014/main" id="{FEA1129E-13AD-27E7-8F27-3CA0EC0CC33A}"/>
              </a:ext>
            </a:extLst>
          </p:cNvPr>
          <p:cNvSpPr>
            <a:spLocks noGrp="1"/>
          </p:cNvSpPr>
          <p:nvPr>
            <p:ph type="title"/>
          </p:nvPr>
        </p:nvSpPr>
        <p:spPr>
          <a:xfrm>
            <a:off x="679600" y="4596992"/>
            <a:ext cx="3353432" cy="1607013"/>
          </a:xfrm>
        </p:spPr>
        <p:txBody>
          <a:bodyPr anchor="ctr">
            <a:normAutofit/>
          </a:bodyPr>
          <a:lstStyle/>
          <a:p>
            <a:r>
              <a:rPr lang="en-US" dirty="0">
                <a:solidFill>
                  <a:srgbClr val="FFFFFF"/>
                </a:solidFill>
              </a:rPr>
              <a:t>LR results</a:t>
            </a:r>
            <a:endParaRPr lang="en-CA" dirty="0">
              <a:solidFill>
                <a:srgbClr val="FFFFFF"/>
              </a:solidFill>
            </a:endParaRPr>
          </a:p>
        </p:txBody>
      </p:sp>
      <p:sp>
        <p:nvSpPr>
          <p:cNvPr id="31" name="Content Placeholder 2">
            <a:extLst>
              <a:ext uri="{FF2B5EF4-FFF2-40B4-BE49-F238E27FC236}">
                <a16:creationId xmlns:a16="http://schemas.microsoft.com/office/drawing/2014/main" id="{AE098D3E-BC26-B38E-BDA2-6AAA34F6A669}"/>
              </a:ext>
            </a:extLst>
          </p:cNvPr>
          <p:cNvSpPr>
            <a:spLocks noGrp="1"/>
          </p:cNvSpPr>
          <p:nvPr>
            <p:ph idx="1"/>
          </p:nvPr>
        </p:nvSpPr>
        <p:spPr>
          <a:xfrm>
            <a:off x="4271491" y="4596992"/>
            <a:ext cx="7240909" cy="1607012"/>
          </a:xfrm>
        </p:spPr>
        <p:txBody>
          <a:bodyPr>
            <a:normAutofit fontScale="92500" lnSpcReduction="10000"/>
          </a:bodyPr>
          <a:lstStyle/>
          <a:p>
            <a:r>
              <a:rPr lang="en-US" dirty="0">
                <a:solidFill>
                  <a:srgbClr val="FFFFFF"/>
                </a:solidFill>
              </a:rPr>
              <a:t>Terrible. Very Bad.</a:t>
            </a:r>
          </a:p>
          <a:p>
            <a:r>
              <a:rPr lang="en-US" dirty="0">
                <a:solidFill>
                  <a:srgbClr val="FFFFFF"/>
                </a:solidFill>
              </a:rPr>
              <a:t>Also, if you try to improve them by dropping irrelevant columns it drops EVERYTHING but the constant. Making it more worthless.</a:t>
            </a:r>
          </a:p>
          <a:p>
            <a:r>
              <a:rPr lang="en-US" dirty="0">
                <a:solidFill>
                  <a:srgbClr val="FFFFFF"/>
                </a:solidFill>
              </a:rPr>
              <a:t>Since maybe this wasn’t actually working with LINE requirements I tried a decision tree.</a:t>
            </a:r>
            <a:endParaRPr lang="en-CA" dirty="0">
              <a:solidFill>
                <a:srgbClr val="FFFFFF"/>
              </a:solidFill>
            </a:endParaRPr>
          </a:p>
        </p:txBody>
      </p:sp>
      <mc:AlternateContent xmlns:mc="http://schemas.openxmlformats.org/markup-compatibility/2006">
        <mc:Choice xmlns:p14="http://schemas.microsoft.com/office/powerpoint/2010/main" xmlns:aink="http://schemas.microsoft.com/office/drawing/2016/ink" Requires="p14 aink">
          <p:contentPart p14:bwMode="auto" r:id="rId3">
            <p14:nvContentPartPr>
              <p14:cNvPr id="5" name="Ink 4">
                <a:extLst>
                  <a:ext uri="{FF2B5EF4-FFF2-40B4-BE49-F238E27FC236}">
                    <a16:creationId xmlns:a16="http://schemas.microsoft.com/office/drawing/2014/main" id="{7C6CD965-E172-B0DF-3AAC-2C98B8368A12}"/>
                  </a:ext>
                </a:extLst>
              </p14:cNvPr>
              <p14:cNvContentPartPr/>
              <p14:nvPr/>
            </p14:nvContentPartPr>
            <p14:xfrm>
              <a:off x="-857400" y="4155030"/>
              <a:ext cx="360" cy="64800"/>
            </p14:xfrm>
          </p:contentPart>
        </mc:Choice>
        <mc:Fallback>
          <p:pic>
            <p:nvPicPr>
              <p:cNvPr id="5" name="Ink 4">
                <a:extLst>
                  <a:ext uri="{FF2B5EF4-FFF2-40B4-BE49-F238E27FC236}">
                    <a16:creationId xmlns:a16="http://schemas.microsoft.com/office/drawing/2014/main" id="{7C6CD965-E172-B0DF-3AAC-2C98B8368A12}"/>
                  </a:ext>
                </a:extLst>
              </p:cNvPr>
              <p:cNvPicPr/>
              <p:nvPr/>
            </p:nvPicPr>
            <p:blipFill>
              <a:blip r:embed="rId4"/>
              <a:stretch>
                <a:fillRect/>
              </a:stretch>
            </p:blipFill>
            <p:spPr>
              <a:xfrm>
                <a:off x="-866400" y="4146030"/>
                <a:ext cx="18000" cy="82440"/>
              </a:xfrm>
              <a:prstGeom prst="rect">
                <a:avLst/>
              </a:prstGeom>
            </p:spPr>
          </p:pic>
        </mc:Fallback>
      </mc:AlternateContent>
    </p:spTree>
    <p:extLst>
      <p:ext uri="{BB962C8B-B14F-4D97-AF65-F5344CB8AC3E}">
        <p14:creationId xmlns:p14="http://schemas.microsoft.com/office/powerpoint/2010/main" val="122880058"/>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831CBB7-4817-4B54-A7F9-0AE2D0C47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7029" y="457200"/>
            <a:ext cx="5010912" cy="9144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5" name="Picture 4">
            <a:extLst>
              <a:ext uri="{FF2B5EF4-FFF2-40B4-BE49-F238E27FC236}">
                <a16:creationId xmlns:a16="http://schemas.microsoft.com/office/drawing/2014/main" id="{9EF29C5C-23E4-88DE-8634-5E75423A30B2}"/>
              </a:ext>
            </a:extLst>
          </p:cNvPr>
          <p:cNvPicPr>
            <a:picLocks noChangeAspect="1"/>
          </p:cNvPicPr>
          <p:nvPr/>
        </p:nvPicPr>
        <p:blipFill>
          <a:blip r:embed="rId2"/>
          <a:stretch>
            <a:fillRect/>
          </a:stretch>
        </p:blipFill>
        <p:spPr>
          <a:xfrm>
            <a:off x="720636" y="809119"/>
            <a:ext cx="5476375" cy="5440226"/>
          </a:xfrm>
          <a:prstGeom prst="rect">
            <a:avLst/>
          </a:prstGeom>
        </p:spPr>
      </p:pic>
      <p:sp>
        <p:nvSpPr>
          <p:cNvPr id="14" name="Rectangle 13">
            <a:extLst>
              <a:ext uri="{FF2B5EF4-FFF2-40B4-BE49-F238E27FC236}">
                <a16:creationId xmlns:a16="http://schemas.microsoft.com/office/drawing/2014/main" id="{96BC321D-B05F-4857-8880-97F61B9B7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7791" y="601200"/>
            <a:ext cx="5009388"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1">
            <a:extLst>
              <a:ext uri="{FF2B5EF4-FFF2-40B4-BE49-F238E27FC236}">
                <a16:creationId xmlns:a16="http://schemas.microsoft.com/office/drawing/2014/main" id="{3C0B85FC-F2CA-91BE-CC25-DB1E335A20CA}"/>
              </a:ext>
            </a:extLst>
          </p:cNvPr>
          <p:cNvSpPr>
            <a:spLocks noGrp="1"/>
          </p:cNvSpPr>
          <p:nvPr>
            <p:ph type="title"/>
          </p:nvPr>
        </p:nvSpPr>
        <p:spPr>
          <a:xfrm>
            <a:off x="6873606" y="938022"/>
            <a:ext cx="4597758" cy="1188720"/>
          </a:xfrm>
        </p:spPr>
        <p:txBody>
          <a:bodyPr>
            <a:normAutofit/>
          </a:bodyPr>
          <a:lstStyle/>
          <a:p>
            <a:r>
              <a:rPr lang="en-US" dirty="0">
                <a:solidFill>
                  <a:srgbClr val="FFFFFF"/>
                </a:solidFill>
              </a:rPr>
              <a:t>Why LR Likely didn’t work..</a:t>
            </a:r>
            <a:endParaRPr lang="en-CA" dirty="0">
              <a:solidFill>
                <a:srgbClr val="FFFFFF"/>
              </a:solidFill>
            </a:endParaRPr>
          </a:p>
        </p:txBody>
      </p:sp>
      <p:sp>
        <p:nvSpPr>
          <p:cNvPr id="3" name="Content Placeholder 2">
            <a:extLst>
              <a:ext uri="{FF2B5EF4-FFF2-40B4-BE49-F238E27FC236}">
                <a16:creationId xmlns:a16="http://schemas.microsoft.com/office/drawing/2014/main" id="{9395306B-FE7F-8D1B-9B44-956B9307B747}"/>
              </a:ext>
            </a:extLst>
          </p:cNvPr>
          <p:cNvSpPr>
            <a:spLocks noGrp="1"/>
          </p:cNvSpPr>
          <p:nvPr>
            <p:ph idx="1"/>
          </p:nvPr>
        </p:nvSpPr>
        <p:spPr>
          <a:xfrm>
            <a:off x="6873606" y="2340864"/>
            <a:ext cx="4597758" cy="3793237"/>
          </a:xfrm>
        </p:spPr>
        <p:txBody>
          <a:bodyPr>
            <a:normAutofit/>
          </a:bodyPr>
          <a:lstStyle/>
          <a:p>
            <a:r>
              <a:rPr lang="en-US" dirty="0">
                <a:solidFill>
                  <a:srgbClr val="FFFFFF"/>
                </a:solidFill>
              </a:rPr>
              <a:t>Well, Yeah there doesn’t appear to be a linear relation, fancy that.</a:t>
            </a:r>
          </a:p>
          <a:p>
            <a:r>
              <a:rPr lang="en-US" dirty="0">
                <a:solidFill>
                  <a:srgbClr val="FFFFFF"/>
                </a:solidFill>
              </a:rPr>
              <a:t>LINE not met.</a:t>
            </a:r>
            <a:endParaRPr lang="en-CA" dirty="0">
              <a:solidFill>
                <a:srgbClr val="FFFFFF"/>
              </a:solidFill>
            </a:endParaRPr>
          </a:p>
        </p:txBody>
      </p:sp>
    </p:spTree>
    <p:extLst>
      <p:ext uri="{BB962C8B-B14F-4D97-AF65-F5344CB8AC3E}">
        <p14:creationId xmlns:p14="http://schemas.microsoft.com/office/powerpoint/2010/main" val="3835929551"/>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0E042B9-0EFB-7E38-9E7C-8C14B1A50C71}"/>
              </a:ext>
            </a:extLst>
          </p:cNvPr>
          <p:cNvSpPr>
            <a:spLocks noGrp="1"/>
          </p:cNvSpPr>
          <p:nvPr>
            <p:ph type="title"/>
          </p:nvPr>
        </p:nvSpPr>
        <p:spPr>
          <a:xfrm>
            <a:off x="609906" y="702156"/>
            <a:ext cx="3568661" cy="1188720"/>
          </a:xfrm>
        </p:spPr>
        <p:txBody>
          <a:bodyPr vert="horz" lIns="91440" tIns="45720" rIns="91440" bIns="45720" rtlCol="0" anchor="b">
            <a:normAutofit/>
          </a:bodyPr>
          <a:lstStyle/>
          <a:p>
            <a:r>
              <a:rPr lang="en-US" sz="2800" b="0" kern="1200" cap="all" dirty="0">
                <a:solidFill>
                  <a:schemeClr val="tx1">
                    <a:lumMod val="75000"/>
                    <a:lumOff val="25000"/>
                  </a:schemeClr>
                </a:solidFill>
                <a:latin typeface="+mj-lt"/>
                <a:ea typeface="+mj-ea"/>
                <a:cs typeface="+mj-cs"/>
              </a:rPr>
              <a:t>Tree results</a:t>
            </a:r>
          </a:p>
        </p:txBody>
      </p:sp>
      <p:sp>
        <p:nvSpPr>
          <p:cNvPr id="17" name="Rectangle 16">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TextBox 9">
            <a:extLst>
              <a:ext uri="{FF2B5EF4-FFF2-40B4-BE49-F238E27FC236}">
                <a16:creationId xmlns:a16="http://schemas.microsoft.com/office/drawing/2014/main" id="{A313ABFE-E2DC-BD62-30C1-485D06633680}"/>
              </a:ext>
            </a:extLst>
          </p:cNvPr>
          <p:cNvSpPr txBox="1"/>
          <p:nvPr/>
        </p:nvSpPr>
        <p:spPr>
          <a:xfrm>
            <a:off x="609906" y="2340864"/>
            <a:ext cx="3568661" cy="3634486"/>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buFont typeface="Wingdings 2" panose="05020102010507070707" pitchFamily="18" charset="2"/>
              <a:buChar char=""/>
            </a:pPr>
            <a:r>
              <a:rPr lang="en-US" dirty="0">
                <a:solidFill>
                  <a:schemeClr val="tx1">
                    <a:lumMod val="75000"/>
                    <a:lumOff val="25000"/>
                  </a:schemeClr>
                </a:solidFill>
              </a:rPr>
              <a:t>This is obviously very overfitted.</a:t>
            </a:r>
          </a:p>
          <a:p>
            <a:pPr defTabSz="457200">
              <a:spcBef>
                <a:spcPct val="20000"/>
              </a:spcBef>
              <a:spcAft>
                <a:spcPts val="600"/>
              </a:spcAft>
              <a:buClr>
                <a:schemeClr val="accent1"/>
              </a:buClr>
              <a:buSzPct val="92000"/>
              <a:buFont typeface="Wingdings 2" panose="05020102010507070707" pitchFamily="18" charset="2"/>
              <a:buChar char=""/>
            </a:pPr>
            <a:r>
              <a:rPr lang="en-US" dirty="0">
                <a:solidFill>
                  <a:schemeClr val="tx1">
                    <a:lumMod val="75000"/>
                    <a:lumOff val="25000"/>
                  </a:schemeClr>
                </a:solidFill>
              </a:rPr>
              <a:t>It does alarmingly poorly on the test data.</a:t>
            </a:r>
          </a:p>
        </p:txBody>
      </p:sp>
      <p:pic>
        <p:nvPicPr>
          <p:cNvPr id="9" name="Picture 8" descr="A black and white diagram&#10;&#10;AI-generated content may be incorrect.">
            <a:extLst>
              <a:ext uri="{FF2B5EF4-FFF2-40B4-BE49-F238E27FC236}">
                <a16:creationId xmlns:a16="http://schemas.microsoft.com/office/drawing/2014/main" id="{CD909D56-A3E1-3793-C6C7-025E306394D3}"/>
              </a:ext>
            </a:extLst>
          </p:cNvPr>
          <p:cNvPicPr>
            <a:picLocks noChangeAspect="1"/>
          </p:cNvPicPr>
          <p:nvPr/>
        </p:nvPicPr>
        <p:blipFill>
          <a:blip r:embed="rId2"/>
          <a:srcRect t="9018" r="-1" b="-1"/>
          <a:stretch>
            <a:fillRect/>
          </a:stretch>
        </p:blipFill>
        <p:spPr>
          <a:xfrm>
            <a:off x="4654295" y="10"/>
            <a:ext cx="7537705" cy="6857990"/>
          </a:xfrm>
          <a:prstGeom prst="rect">
            <a:avLst/>
          </a:prstGeom>
        </p:spPr>
      </p:pic>
    </p:spTree>
    <p:extLst>
      <p:ext uri="{BB962C8B-B14F-4D97-AF65-F5344CB8AC3E}">
        <p14:creationId xmlns:p14="http://schemas.microsoft.com/office/powerpoint/2010/main" val="3860344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601200"/>
            <a:ext cx="3703320"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80E920D-7872-B5F9-ED16-19C07323F90D}"/>
              </a:ext>
            </a:extLst>
          </p:cNvPr>
          <p:cNvSpPr>
            <a:spLocks noGrp="1"/>
          </p:cNvSpPr>
          <p:nvPr>
            <p:ph type="title"/>
          </p:nvPr>
        </p:nvSpPr>
        <p:spPr>
          <a:xfrm>
            <a:off x="672280" y="944752"/>
            <a:ext cx="3259016" cy="1462692"/>
          </a:xfrm>
        </p:spPr>
        <p:txBody>
          <a:bodyPr>
            <a:normAutofit/>
          </a:bodyPr>
          <a:lstStyle/>
          <a:p>
            <a:r>
              <a:rPr lang="en-US" dirty="0">
                <a:solidFill>
                  <a:srgbClr val="FFFFFF"/>
                </a:solidFill>
              </a:rPr>
              <a:t>It’s bad</a:t>
            </a:r>
            <a:endParaRPr lang="en-CA" dirty="0">
              <a:solidFill>
                <a:srgbClr val="FFFFFF"/>
              </a:solidFill>
            </a:endParaRPr>
          </a:p>
        </p:txBody>
      </p:sp>
      <p:sp>
        <p:nvSpPr>
          <p:cNvPr id="14" name="Rectangle 13">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8" name="Rectangle 17">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F429FBB7-2D87-56DF-0A8D-0F6E88D2A3A5}"/>
              </a:ext>
            </a:extLst>
          </p:cNvPr>
          <p:cNvSpPr>
            <a:spLocks noGrp="1"/>
          </p:cNvSpPr>
          <p:nvPr>
            <p:ph idx="1"/>
          </p:nvPr>
        </p:nvSpPr>
        <p:spPr>
          <a:xfrm>
            <a:off x="671513" y="2536031"/>
            <a:ext cx="3123783" cy="3671936"/>
          </a:xfrm>
        </p:spPr>
        <p:txBody>
          <a:bodyPr anchor="t">
            <a:normAutofit/>
          </a:bodyPr>
          <a:lstStyle/>
          <a:p>
            <a:r>
              <a:rPr lang="en-US" dirty="0">
                <a:solidFill>
                  <a:srgbClr val="FFFFFF"/>
                </a:solidFill>
              </a:rPr>
              <a:t>There is actually no way it seems to improve test accuracy. None.</a:t>
            </a:r>
          </a:p>
          <a:p>
            <a:r>
              <a:rPr lang="en-US" dirty="0">
                <a:solidFill>
                  <a:srgbClr val="FFFFFF"/>
                </a:solidFill>
              </a:rPr>
              <a:t>So this data can’t really be modeled with Trees or with Linear Regression.</a:t>
            </a:r>
            <a:endParaRPr lang="en-CA" dirty="0">
              <a:solidFill>
                <a:srgbClr val="FFFFFF"/>
              </a:solidFill>
            </a:endParaRPr>
          </a:p>
        </p:txBody>
      </p:sp>
      <p:pic>
        <p:nvPicPr>
          <p:cNvPr id="7" name="Picture 6">
            <a:extLst>
              <a:ext uri="{FF2B5EF4-FFF2-40B4-BE49-F238E27FC236}">
                <a16:creationId xmlns:a16="http://schemas.microsoft.com/office/drawing/2014/main" id="{FBFDF420-336C-BEBB-CAC3-9052A60FE49B}"/>
              </a:ext>
            </a:extLst>
          </p:cNvPr>
          <p:cNvPicPr>
            <a:picLocks noChangeAspect="1"/>
          </p:cNvPicPr>
          <p:nvPr/>
        </p:nvPicPr>
        <p:blipFill>
          <a:blip r:embed="rId2"/>
          <a:stretch>
            <a:fillRect/>
          </a:stretch>
        </p:blipFill>
        <p:spPr>
          <a:xfrm>
            <a:off x="5072322" y="684565"/>
            <a:ext cx="5939649" cy="5835899"/>
          </a:xfrm>
          <a:prstGeom prst="rect">
            <a:avLst/>
          </a:prstGeom>
        </p:spPr>
      </p:pic>
    </p:spTree>
    <p:extLst>
      <p:ext uri="{BB962C8B-B14F-4D97-AF65-F5344CB8AC3E}">
        <p14:creationId xmlns:p14="http://schemas.microsoft.com/office/powerpoint/2010/main" val="1008577408"/>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34A41-9E28-F0E1-79E4-1358BF64F286}"/>
              </a:ext>
            </a:extLst>
          </p:cNvPr>
          <p:cNvSpPr>
            <a:spLocks noGrp="1"/>
          </p:cNvSpPr>
          <p:nvPr>
            <p:ph type="title"/>
          </p:nvPr>
        </p:nvSpPr>
        <p:spPr/>
        <p:txBody>
          <a:bodyPr/>
          <a:lstStyle/>
          <a:p>
            <a:r>
              <a:rPr lang="en-US" dirty="0"/>
              <a:t>KNN Results</a:t>
            </a:r>
            <a:endParaRPr lang="en-CA" dirty="0"/>
          </a:p>
        </p:txBody>
      </p:sp>
      <p:sp>
        <p:nvSpPr>
          <p:cNvPr id="3" name="Content Placeholder 2">
            <a:extLst>
              <a:ext uri="{FF2B5EF4-FFF2-40B4-BE49-F238E27FC236}">
                <a16:creationId xmlns:a16="http://schemas.microsoft.com/office/drawing/2014/main" id="{8FD04178-E925-F225-C22D-034EC74907E1}"/>
              </a:ext>
            </a:extLst>
          </p:cNvPr>
          <p:cNvSpPr>
            <a:spLocks noGrp="1"/>
          </p:cNvSpPr>
          <p:nvPr>
            <p:ph idx="1"/>
          </p:nvPr>
        </p:nvSpPr>
        <p:spPr>
          <a:xfrm>
            <a:off x="492880" y="2334637"/>
            <a:ext cx="3485733" cy="3660167"/>
          </a:xfrm>
        </p:spPr>
        <p:txBody>
          <a:bodyPr/>
          <a:lstStyle/>
          <a:p>
            <a:r>
              <a:rPr lang="en-US" dirty="0"/>
              <a:t>Failure here too.</a:t>
            </a:r>
          </a:p>
          <a:p>
            <a:r>
              <a:rPr lang="en-US" dirty="0"/>
              <a:t>Did not try a 4</a:t>
            </a:r>
            <a:r>
              <a:rPr lang="en-US" baseline="30000" dirty="0"/>
              <a:t>th</a:t>
            </a:r>
            <a:r>
              <a:rPr lang="en-US" dirty="0"/>
              <a:t> model type.</a:t>
            </a:r>
            <a:endParaRPr lang="en-CA" dirty="0"/>
          </a:p>
        </p:txBody>
      </p:sp>
      <p:pic>
        <p:nvPicPr>
          <p:cNvPr id="5" name="Picture 4">
            <a:extLst>
              <a:ext uri="{FF2B5EF4-FFF2-40B4-BE49-F238E27FC236}">
                <a16:creationId xmlns:a16="http://schemas.microsoft.com/office/drawing/2014/main" id="{8DAC6185-E9BE-6BC6-C680-9D10BBEC3C65}"/>
              </a:ext>
            </a:extLst>
          </p:cNvPr>
          <p:cNvPicPr>
            <a:picLocks noChangeAspect="1"/>
          </p:cNvPicPr>
          <p:nvPr/>
        </p:nvPicPr>
        <p:blipFill>
          <a:blip r:embed="rId2"/>
          <a:stretch>
            <a:fillRect/>
          </a:stretch>
        </p:blipFill>
        <p:spPr>
          <a:xfrm>
            <a:off x="4191411" y="3297513"/>
            <a:ext cx="7507709" cy="1188720"/>
          </a:xfrm>
          <a:prstGeom prst="rect">
            <a:avLst/>
          </a:prstGeom>
        </p:spPr>
      </p:pic>
    </p:spTree>
    <p:extLst>
      <p:ext uri="{BB962C8B-B14F-4D97-AF65-F5344CB8AC3E}">
        <p14:creationId xmlns:p14="http://schemas.microsoft.com/office/powerpoint/2010/main" val="4126249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2580E-CB05-10D6-AC24-A6C830A348A8}"/>
              </a:ext>
            </a:extLst>
          </p:cNvPr>
          <p:cNvSpPr>
            <a:spLocks noGrp="1"/>
          </p:cNvSpPr>
          <p:nvPr>
            <p:ph type="title"/>
          </p:nvPr>
        </p:nvSpPr>
        <p:spPr/>
        <p:txBody>
          <a:bodyPr/>
          <a:lstStyle/>
          <a:p>
            <a:r>
              <a:rPr lang="en-US" dirty="0"/>
              <a:t>Conclusion</a:t>
            </a:r>
            <a:endParaRPr lang="en-CA" dirty="0"/>
          </a:p>
        </p:txBody>
      </p:sp>
      <p:sp>
        <p:nvSpPr>
          <p:cNvPr id="3" name="Content Placeholder 2">
            <a:extLst>
              <a:ext uri="{FF2B5EF4-FFF2-40B4-BE49-F238E27FC236}">
                <a16:creationId xmlns:a16="http://schemas.microsoft.com/office/drawing/2014/main" id="{43370B0F-8FCF-AEA3-EDF7-29C66DEF0BA9}"/>
              </a:ext>
            </a:extLst>
          </p:cNvPr>
          <p:cNvSpPr>
            <a:spLocks noGrp="1"/>
          </p:cNvSpPr>
          <p:nvPr>
            <p:ph idx="1"/>
          </p:nvPr>
        </p:nvSpPr>
        <p:spPr/>
        <p:txBody>
          <a:bodyPr/>
          <a:lstStyle/>
          <a:p>
            <a:r>
              <a:rPr lang="en-US" dirty="0"/>
              <a:t>This data while very interesting doesn’t really work for modeling.</a:t>
            </a:r>
          </a:p>
          <a:p>
            <a:pPr lvl="1"/>
            <a:r>
              <a:rPr lang="en-US" dirty="0"/>
              <a:t>Maybe if I sorted out just one industry in one country? </a:t>
            </a:r>
          </a:p>
          <a:p>
            <a:pPr lvl="1"/>
            <a:r>
              <a:rPr lang="en-US" dirty="0"/>
              <a:t>But then that would be a much smaller dataset.</a:t>
            </a:r>
          </a:p>
          <a:p>
            <a:r>
              <a:rPr lang="en-US" dirty="0"/>
              <a:t>Switching to a different variable likely would not have helped</a:t>
            </a:r>
          </a:p>
          <a:p>
            <a:r>
              <a:rPr lang="en-CA" dirty="0"/>
              <a:t>I would have liked to see data for NATO and for the EU in governments. </a:t>
            </a:r>
          </a:p>
          <a:p>
            <a:r>
              <a:rPr lang="en-CA" dirty="0"/>
              <a:t>More information on which companies were involved would also have been useful.</a:t>
            </a:r>
          </a:p>
          <a:p>
            <a:r>
              <a:rPr lang="en-CA" dirty="0"/>
              <a:t>For ‘Nation State’ I’d have liked to see the responsible one (Russia is often blamed.)</a:t>
            </a:r>
          </a:p>
          <a:p>
            <a:r>
              <a:rPr lang="en-CA" dirty="0"/>
              <a:t>Really the best solution is Knowledge and Prevention.</a:t>
            </a:r>
          </a:p>
          <a:p>
            <a:endParaRPr lang="en-CA" dirty="0"/>
          </a:p>
          <a:p>
            <a:endParaRPr lang="en-CA" dirty="0"/>
          </a:p>
        </p:txBody>
      </p:sp>
    </p:spTree>
    <p:extLst>
      <p:ext uri="{BB962C8B-B14F-4D97-AF65-F5344CB8AC3E}">
        <p14:creationId xmlns:p14="http://schemas.microsoft.com/office/powerpoint/2010/main" val="315927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9" name="Rectangle 8">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1" name="Rectangle 10">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3" name="Rectangle 12">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useBgFill="1">
        <p:nvSpPr>
          <p:cNvPr id="15" name="Rectangle 14">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F608E55-EBC6-4977-B112-7075FC8F63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5744" y="908054"/>
            <a:ext cx="7239406" cy="497061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1">
            <a:extLst>
              <a:ext uri="{FF2B5EF4-FFF2-40B4-BE49-F238E27FC236}">
                <a16:creationId xmlns:a16="http://schemas.microsoft.com/office/drawing/2014/main" id="{8F4E012E-2554-811E-F3BF-1A9678A45026}"/>
              </a:ext>
            </a:extLst>
          </p:cNvPr>
          <p:cNvSpPr>
            <a:spLocks noGrp="1"/>
          </p:cNvSpPr>
          <p:nvPr>
            <p:ph type="title"/>
          </p:nvPr>
        </p:nvSpPr>
        <p:spPr>
          <a:xfrm>
            <a:off x="1159565" y="1170968"/>
            <a:ext cx="6446386" cy="4474770"/>
          </a:xfrm>
        </p:spPr>
        <p:txBody>
          <a:bodyPr vert="horz" lIns="91440" tIns="45720" rIns="91440" bIns="45720" rtlCol="0" anchor="ctr">
            <a:normAutofit/>
          </a:bodyPr>
          <a:lstStyle/>
          <a:p>
            <a:pPr algn="r"/>
            <a:r>
              <a:rPr lang="en-US" sz="6000" b="0" kern="1200" cap="all">
                <a:solidFill>
                  <a:srgbClr val="FFFFFF"/>
                </a:solidFill>
                <a:latin typeface="+mj-lt"/>
                <a:ea typeface="+mj-ea"/>
                <a:cs typeface="+mj-cs"/>
              </a:rPr>
              <a:t>Hope you All learned a little something</a:t>
            </a:r>
          </a:p>
        </p:txBody>
      </p:sp>
      <p:sp>
        <p:nvSpPr>
          <p:cNvPr id="19" name="Rectangle 18">
            <a:extLst>
              <a:ext uri="{FF2B5EF4-FFF2-40B4-BE49-F238E27FC236}">
                <a16:creationId xmlns:a16="http://schemas.microsoft.com/office/drawing/2014/main" id="{A2F92874-EB6E-497E-88EA-BC2A8F551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8" y="908054"/>
            <a:ext cx="3378706" cy="497061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1" name="Rectangle 20">
            <a:extLst>
              <a:ext uri="{FF2B5EF4-FFF2-40B4-BE49-F238E27FC236}">
                <a16:creationId xmlns:a16="http://schemas.microsoft.com/office/drawing/2014/main" id="{8BEF4DBE-A60E-4AAE-9D62-1147461CD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5745" y="751211"/>
            <a:ext cx="7242048"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3" name="Rectangle 22">
            <a:extLst>
              <a:ext uri="{FF2B5EF4-FFF2-40B4-BE49-F238E27FC236}">
                <a16:creationId xmlns:a16="http://schemas.microsoft.com/office/drawing/2014/main" id="{33955649-790D-4997-9D50-C1D8E32C1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54768"/>
            <a:ext cx="33832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5" name="Rectangle 24">
            <a:extLst>
              <a:ext uri="{FF2B5EF4-FFF2-40B4-BE49-F238E27FC236}">
                <a16:creationId xmlns:a16="http://schemas.microsoft.com/office/drawing/2014/main" id="{18839B1D-4A8C-403C-9D1B-B83CF1DB6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5745" y="5946475"/>
            <a:ext cx="7242048"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7" name="Rectangle 26">
            <a:extLst>
              <a:ext uri="{FF2B5EF4-FFF2-40B4-BE49-F238E27FC236}">
                <a16:creationId xmlns:a16="http://schemas.microsoft.com/office/drawing/2014/main" id="{19818AF9-99F4-4DD9-A3EB-0A3477509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5950032"/>
            <a:ext cx="33832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1160883472"/>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{5D967970-79DC-4B12-84F5-7EFD7D0D9D08}TF201209c3-d067-44f9-a26f-c8f216c443132338b0b8_win32-bd4b3b67ca24</Template>
  <TotalTime>212</TotalTime>
  <Words>1194</Words>
  <Application>Microsoft Office PowerPoint</Application>
  <PresentationFormat>Widescreen</PresentationFormat>
  <Paragraphs>92</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Arial</vt:lpstr>
      <vt:lpstr>Franklin Gothic Book</vt:lpstr>
      <vt:lpstr>Franklin Gothic Demi</vt:lpstr>
      <vt:lpstr>Wingdings 2</vt:lpstr>
      <vt:lpstr>DividendVTI</vt:lpstr>
      <vt:lpstr>Cyber security threats 2015-2024</vt:lpstr>
      <vt:lpstr>About the dataset</vt:lpstr>
      <vt:lpstr>More on Attack Types</vt:lpstr>
      <vt:lpstr>On security vulnerabilities</vt:lpstr>
      <vt:lpstr>On Defense mechanisms</vt:lpstr>
      <vt:lpstr>Univariate Analysis –Countries involved</vt:lpstr>
      <vt:lpstr>PowerPoint Presentation</vt:lpstr>
      <vt:lpstr>PowerPoint Presentation</vt:lpstr>
      <vt:lpstr>PowerPoint Presentation</vt:lpstr>
      <vt:lpstr>Bivariate Analysis</vt:lpstr>
      <vt:lpstr>Bivariate - Numeric</vt:lpstr>
      <vt:lpstr>All Categoric</vt:lpstr>
      <vt:lpstr>Resolution time by Country</vt:lpstr>
      <vt:lpstr>Resolution Time by Attack Type</vt:lpstr>
      <vt:lpstr>Resolution Time by Target Industry</vt:lpstr>
      <vt:lpstr>Resolution Time by Attack Source</vt:lpstr>
      <vt:lpstr>Resolution Time by Vulnerability Type</vt:lpstr>
      <vt:lpstr>Resolution Time by Defense Type</vt:lpstr>
      <vt:lpstr>Target Variable and Why</vt:lpstr>
      <vt:lpstr>Principle Component Analysis</vt:lpstr>
      <vt:lpstr>LR results</vt:lpstr>
      <vt:lpstr>Why LR Likely didn’t work..</vt:lpstr>
      <vt:lpstr>Tree results</vt:lpstr>
      <vt:lpstr>It’s bad</vt:lpstr>
      <vt:lpstr>KNN Results</vt:lpstr>
      <vt:lpstr>Conclusion</vt:lpstr>
      <vt:lpstr>Hope you All learned a little something</vt:lpstr>
    </vt:vector>
  </TitlesOfParts>
  <Company>Metro College of techchnology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Howard</dc:creator>
  <cp:lastModifiedBy>Elizabeth Howard</cp:lastModifiedBy>
  <cp:revision>1</cp:revision>
  <dcterms:created xsi:type="dcterms:W3CDTF">2025-08-05T23:29:30Z</dcterms:created>
  <dcterms:modified xsi:type="dcterms:W3CDTF">2025-08-06T03:01:51Z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